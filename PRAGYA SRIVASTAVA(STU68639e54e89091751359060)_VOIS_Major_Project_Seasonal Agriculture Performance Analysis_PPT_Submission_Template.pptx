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 uri="GoogleSlidesCustomDataVersion2">
      <go:slidesCustomData xmlns:go="http://customooxmlschemas.google.com/" r:id="rId26" roundtripDataSignature="AMtx7mhe3wSxuyZnHxM/gal4vci3Jvec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8" orient="horz"/>
        <p:guide pos="408"/>
        <p:guide pos="3912" orient="horz"/>
        <p:guide pos="7272"/>
        <p:guide pos="1656"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fa44e46628_1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g3fa44e46628_1_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g3fa44e46628_1_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fa44e46628_1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g3fa44e46628_1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fa44e46628_1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g3fa44e46628_1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fa44e46628_1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g3fa44e46628_1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fa44e46628_1_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g3fa44e46628_1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fa44e46628_1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g3fa44e46628_1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9" name="Shape 29"/>
        <p:cNvGrpSpPr/>
        <p:nvPr/>
      </p:nvGrpSpPr>
      <p:grpSpPr>
        <a:xfrm>
          <a:off x="0" y="0"/>
          <a:ext cx="0" cy="0"/>
          <a:chOff x="0" y="0"/>
          <a:chExt cx="0" cy="0"/>
        </a:xfrm>
      </p:grpSpPr>
      <p:sp>
        <p:nvSpPr>
          <p:cNvPr id="30" name="Google Shape;30;p16"/>
          <p:cNvSpPr txBox="1"/>
          <p:nvPr>
            <p:ph idx="1" type="body"/>
          </p:nvPr>
        </p:nvSpPr>
        <p:spPr>
          <a:xfrm>
            <a:off x="6312871" y="4141999"/>
            <a:ext cx="4220845" cy="861497"/>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228600" lvl="1" marL="914400" algn="l">
              <a:spcBef>
                <a:spcPts val="1000"/>
              </a:spcBef>
              <a:spcAft>
                <a:spcPts val="0"/>
              </a:spcAft>
              <a:buSzPts val="1600"/>
              <a:buNone/>
              <a:defRPr sz="2000"/>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1" name="Google Shape;31;p16"/>
          <p:cNvSpPr/>
          <p:nvPr/>
        </p:nvSpPr>
        <p:spPr>
          <a:xfrm>
            <a:off x="740309" y="1382809"/>
            <a:ext cx="1229566" cy="1059971"/>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2" name="Google Shape;32;p16"/>
          <p:cNvSpPr/>
          <p:nvPr/>
        </p:nvSpPr>
        <p:spPr>
          <a:xfrm>
            <a:off x="3755031" y="1194620"/>
            <a:ext cx="1666162" cy="1436347"/>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3" name="Google Shape;33;p16"/>
          <p:cNvSpPr/>
          <p:nvPr/>
        </p:nvSpPr>
        <p:spPr>
          <a:xfrm>
            <a:off x="3804994" y="5233183"/>
            <a:ext cx="718261" cy="619191"/>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4" name="Google Shape;34;p16"/>
          <p:cNvSpPr/>
          <p:nvPr/>
        </p:nvSpPr>
        <p:spPr>
          <a:xfrm>
            <a:off x="1837838" y="1101306"/>
            <a:ext cx="651613" cy="561736"/>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5" name="Google Shape;35;p16"/>
          <p:cNvSpPr/>
          <p:nvPr>
            <p:ph idx="2" type="pic"/>
          </p:nvPr>
        </p:nvSpPr>
        <p:spPr>
          <a:xfrm>
            <a:off x="1571515" y="1914044"/>
            <a:ext cx="3993624" cy="3617848"/>
          </a:xfrm>
          <a:prstGeom prst="rect">
            <a:avLst/>
          </a:prstGeom>
          <a:noFill/>
          <a:ln>
            <a:noFill/>
          </a:ln>
        </p:spPr>
      </p:sp>
      <p:sp>
        <p:nvSpPr>
          <p:cNvPr id="36" name="Google Shape;36;p16"/>
          <p:cNvSpPr txBox="1"/>
          <p:nvPr>
            <p:ph type="title"/>
          </p:nvPr>
        </p:nvSpPr>
        <p:spPr>
          <a:xfrm>
            <a:off x="6312871" y="2050552"/>
            <a:ext cx="4998720" cy="1748983"/>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7" name="Shape 37"/>
        <p:cNvGrpSpPr/>
        <p:nvPr/>
      </p:nvGrpSpPr>
      <p:grpSpPr>
        <a:xfrm>
          <a:off x="0" y="0"/>
          <a:ext cx="0" cy="0"/>
          <a:chOff x="0" y="0"/>
          <a:chExt cx="0" cy="0"/>
        </a:xfrm>
      </p:grpSpPr>
      <p:sp>
        <p:nvSpPr>
          <p:cNvPr id="38" name="Google Shape;38;p17"/>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spcBef>
                <a:spcPts val="1000"/>
              </a:spcBef>
              <a:spcAft>
                <a:spcPts val="0"/>
              </a:spcAft>
              <a:buClr>
                <a:schemeClr val="accent4"/>
              </a:buClr>
              <a:buSzPts val="1600"/>
              <a:buFont typeface="Noto Sans Symbols"/>
              <a:buChar char="▪"/>
              <a:defRPr sz="2000"/>
            </a:lvl1pPr>
            <a:lvl2pPr indent="-320040" lvl="1" marL="914400" algn="l">
              <a:spcBef>
                <a:spcPts val="1000"/>
              </a:spcBef>
              <a:spcAft>
                <a:spcPts val="0"/>
              </a:spcAft>
              <a:buClr>
                <a:schemeClr val="accent4"/>
              </a:buClr>
              <a:buSzPts val="1440"/>
              <a:buFont typeface="Noto Sans Symbols"/>
              <a:buChar char="▪"/>
              <a:defRPr sz="1800"/>
            </a:lvl2pPr>
            <a:lvl3pPr indent="-309880" lvl="2" marL="1371600" algn="l">
              <a:spcBef>
                <a:spcPts val="1000"/>
              </a:spcBef>
              <a:spcAft>
                <a:spcPts val="0"/>
              </a:spcAft>
              <a:buClr>
                <a:schemeClr val="accent4"/>
              </a:buClr>
              <a:buSzPts val="1280"/>
              <a:buFont typeface="Noto Sans Symbols"/>
              <a:buChar char="▪"/>
              <a:defRPr sz="1600"/>
            </a:lvl3pPr>
            <a:lvl4pPr indent="-309880" lvl="3" marL="1828800" algn="l">
              <a:spcBef>
                <a:spcPts val="1000"/>
              </a:spcBef>
              <a:spcAft>
                <a:spcPts val="0"/>
              </a:spcAft>
              <a:buClr>
                <a:schemeClr val="accent4"/>
              </a:buClr>
              <a:buSzPts val="1280"/>
              <a:buFont typeface="Noto Sans Symbols"/>
              <a:buChar char="▪"/>
              <a:defRPr sz="1600"/>
            </a:lvl4pPr>
            <a:lvl5pPr indent="-309880" lvl="4" marL="2286000" algn="l">
              <a:spcBef>
                <a:spcPts val="1000"/>
              </a:spcBef>
              <a:spcAft>
                <a:spcPts val="0"/>
              </a:spcAft>
              <a:buClr>
                <a:schemeClr val="accent4"/>
              </a:buClr>
              <a:buSzPts val="1280"/>
              <a:buFont typeface="Noto Sans Symbols"/>
              <a:buChar char="▪"/>
              <a:defRPr sz="16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9" name="Google Shape;39;p17"/>
          <p:cNvSpPr/>
          <p:nvPr/>
        </p:nvSpPr>
        <p:spPr>
          <a:xfrm>
            <a:off x="9354457" y="5363987"/>
            <a:ext cx="457200" cy="4572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0" name="Google Shape;40;p17"/>
          <p:cNvSpPr/>
          <p:nvPr/>
        </p:nvSpPr>
        <p:spPr>
          <a:xfrm>
            <a:off x="6692791" y="1699889"/>
            <a:ext cx="319749" cy="31974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1" name="Google Shape;41;p17"/>
          <p:cNvSpPr/>
          <p:nvPr/>
        </p:nvSpPr>
        <p:spPr>
          <a:xfrm>
            <a:off x="9354457" y="5897738"/>
            <a:ext cx="179977" cy="17997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2" name="Google Shape;42;p17"/>
          <p:cNvSpPr/>
          <p:nvPr>
            <p:ph idx="2" type="pic"/>
          </p:nvPr>
        </p:nvSpPr>
        <p:spPr>
          <a:xfrm>
            <a:off x="7090227" y="786181"/>
            <a:ext cx="4441372" cy="5393036"/>
          </a:xfrm>
          <a:prstGeom prst="rect">
            <a:avLst/>
          </a:prstGeom>
          <a:noFill/>
          <a:ln>
            <a:noFill/>
          </a:ln>
        </p:spPr>
      </p:sp>
      <p:sp>
        <p:nvSpPr>
          <p:cNvPr id="43" name="Google Shape;43;p17"/>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44" name="Shape 44"/>
        <p:cNvGrpSpPr/>
        <p:nvPr/>
      </p:nvGrpSpPr>
      <p:grpSpPr>
        <a:xfrm>
          <a:off x="0" y="0"/>
          <a:ext cx="0" cy="0"/>
          <a:chOff x="0" y="0"/>
          <a:chExt cx="0" cy="0"/>
        </a:xfrm>
      </p:grpSpPr>
      <p:sp>
        <p:nvSpPr>
          <p:cNvPr id="45" name="Google Shape;45;p18"/>
          <p:cNvSpPr/>
          <p:nvPr/>
        </p:nvSpPr>
        <p:spPr>
          <a:xfrm>
            <a:off x="7362825" y="443263"/>
            <a:ext cx="361950" cy="36195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6" name="Google Shape;46;p18"/>
          <p:cNvSpPr/>
          <p:nvPr/>
        </p:nvSpPr>
        <p:spPr>
          <a:xfrm>
            <a:off x="11007246" y="5605994"/>
            <a:ext cx="654227" cy="6542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7" name="Google Shape;47;p18"/>
          <p:cNvSpPr/>
          <p:nvPr/>
        </p:nvSpPr>
        <p:spPr>
          <a:xfrm>
            <a:off x="10683791" y="6132439"/>
            <a:ext cx="251152" cy="2511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8" name="Google Shape;48;p18"/>
          <p:cNvSpPr/>
          <p:nvPr>
            <p:ph idx="2" type="pic"/>
          </p:nvPr>
        </p:nvSpPr>
        <p:spPr>
          <a:xfrm>
            <a:off x="5733416" y="624239"/>
            <a:ext cx="5855754" cy="5631571"/>
          </a:xfrm>
          <a:prstGeom prst="rect">
            <a:avLst/>
          </a:prstGeom>
          <a:noFill/>
          <a:ln>
            <a:noFill/>
          </a:ln>
        </p:spPr>
      </p:sp>
      <p:sp>
        <p:nvSpPr>
          <p:cNvPr id="49" name="Google Shape;49;p18"/>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lnSpc>
                <a:spcPct val="150000"/>
              </a:lnSpc>
              <a:spcBef>
                <a:spcPts val="1000"/>
              </a:spcBef>
              <a:spcAft>
                <a:spcPts val="0"/>
              </a:spcAft>
              <a:buClr>
                <a:schemeClr val="accent4"/>
              </a:buClr>
              <a:buSzPts val="1600"/>
              <a:buFont typeface="Noto Sans Symbols"/>
              <a:buChar char="▪"/>
              <a:defRPr sz="2000"/>
            </a:lvl1pPr>
            <a:lvl2pPr indent="-330200" lvl="1" marL="914400" algn="l">
              <a:spcBef>
                <a:spcPts val="1000"/>
              </a:spcBef>
              <a:spcAft>
                <a:spcPts val="0"/>
              </a:spcAft>
              <a:buClr>
                <a:schemeClr val="accent4"/>
              </a:buClr>
              <a:buSzPts val="1600"/>
              <a:buFont typeface="Noto Sans Symbols"/>
              <a:buChar char="▪"/>
              <a:defRPr sz="2000"/>
            </a:lvl2pPr>
            <a:lvl3pPr indent="-320040" lvl="2" marL="1371600" algn="l">
              <a:spcBef>
                <a:spcPts val="1000"/>
              </a:spcBef>
              <a:spcAft>
                <a:spcPts val="0"/>
              </a:spcAft>
              <a:buClr>
                <a:schemeClr val="accent4"/>
              </a:buClr>
              <a:buSzPts val="1440"/>
              <a:buFont typeface="Noto Sans Symbols"/>
              <a:buChar char="▪"/>
              <a:defRPr sz="1800"/>
            </a:lvl3pPr>
            <a:lvl4pPr indent="-320040" lvl="3" marL="1828800" algn="l">
              <a:spcBef>
                <a:spcPts val="1000"/>
              </a:spcBef>
              <a:spcAft>
                <a:spcPts val="0"/>
              </a:spcAft>
              <a:buClr>
                <a:schemeClr val="accent4"/>
              </a:buClr>
              <a:buSzPts val="1440"/>
              <a:buFont typeface="Noto Sans Symbols"/>
              <a:buChar char="▪"/>
              <a:defRPr sz="1800"/>
            </a:lvl4pPr>
            <a:lvl5pPr indent="-320040" lvl="4" marL="2286000" algn="l">
              <a:spcBef>
                <a:spcPts val="1000"/>
              </a:spcBef>
              <a:spcAft>
                <a:spcPts val="0"/>
              </a:spcAft>
              <a:buClr>
                <a:schemeClr val="accent4"/>
              </a:buClr>
              <a:buSzPts val="1440"/>
              <a:buFont typeface="Noto Sans Symbols"/>
              <a:buChar char="▪"/>
              <a:defRPr sz="18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0" name="Google Shape;50;p18"/>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51" name="Shape 51"/>
        <p:cNvGrpSpPr/>
        <p:nvPr/>
      </p:nvGrpSpPr>
      <p:grpSpPr>
        <a:xfrm>
          <a:off x="0" y="0"/>
          <a:ext cx="0" cy="0"/>
          <a:chOff x="0" y="0"/>
          <a:chExt cx="0" cy="0"/>
        </a:xfrm>
      </p:grpSpPr>
      <p:sp>
        <p:nvSpPr>
          <p:cNvPr id="52" name="Google Shape;52;p19"/>
          <p:cNvSpPr/>
          <p:nvPr>
            <p:ph idx="2" type="pic"/>
          </p:nvPr>
        </p:nvSpPr>
        <p:spPr>
          <a:xfrm>
            <a:off x="5353508" y="2555551"/>
            <a:ext cx="1484985" cy="1280160"/>
          </a:xfrm>
          <a:prstGeom prst="rect">
            <a:avLst/>
          </a:prstGeom>
          <a:noFill/>
          <a:ln>
            <a:noFill/>
          </a:ln>
        </p:spPr>
      </p:sp>
      <p:sp>
        <p:nvSpPr>
          <p:cNvPr id="53" name="Google Shape;53;p19"/>
          <p:cNvSpPr/>
          <p:nvPr>
            <p:ph idx="3" type="pic"/>
          </p:nvPr>
        </p:nvSpPr>
        <p:spPr>
          <a:xfrm>
            <a:off x="3115921" y="2555551"/>
            <a:ext cx="1484985" cy="1280160"/>
          </a:xfrm>
          <a:prstGeom prst="rect">
            <a:avLst/>
          </a:prstGeom>
          <a:noFill/>
          <a:ln>
            <a:noFill/>
          </a:ln>
        </p:spPr>
      </p:sp>
      <p:sp>
        <p:nvSpPr>
          <p:cNvPr id="54" name="Google Shape;54;p19"/>
          <p:cNvSpPr/>
          <p:nvPr>
            <p:ph idx="4" type="pic"/>
          </p:nvPr>
        </p:nvSpPr>
        <p:spPr>
          <a:xfrm>
            <a:off x="7602465" y="2555551"/>
            <a:ext cx="1484985" cy="1280160"/>
          </a:xfrm>
          <a:prstGeom prst="rect">
            <a:avLst/>
          </a:prstGeom>
          <a:noFill/>
          <a:ln>
            <a:noFill/>
          </a:ln>
        </p:spPr>
      </p:sp>
      <p:sp>
        <p:nvSpPr>
          <p:cNvPr id="55" name="Google Shape;55;p19"/>
          <p:cNvSpPr/>
          <p:nvPr>
            <p:ph idx="5" type="pic"/>
          </p:nvPr>
        </p:nvSpPr>
        <p:spPr>
          <a:xfrm>
            <a:off x="9840051" y="2555551"/>
            <a:ext cx="1484985" cy="1280160"/>
          </a:xfrm>
          <a:prstGeom prst="rect">
            <a:avLst/>
          </a:prstGeom>
          <a:noFill/>
          <a:ln>
            <a:noFill/>
          </a:ln>
        </p:spPr>
      </p:sp>
      <p:sp>
        <p:nvSpPr>
          <p:cNvPr id="56" name="Google Shape;56;p19"/>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p:nvPr/>
        </p:nvSpPr>
        <p:spPr>
          <a:xfrm>
            <a:off x="546669" y="3467555"/>
            <a:ext cx="458268" cy="395059"/>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8" name="Google Shape;58;p19"/>
          <p:cNvSpPr/>
          <p:nvPr/>
        </p:nvSpPr>
        <p:spPr>
          <a:xfrm>
            <a:off x="11113337" y="2394722"/>
            <a:ext cx="358391" cy="308958"/>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9" name="Google Shape;59;p19"/>
          <p:cNvSpPr/>
          <p:nvPr/>
        </p:nvSpPr>
        <p:spPr>
          <a:xfrm>
            <a:off x="10882649" y="2202202"/>
            <a:ext cx="230688" cy="198869"/>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60" name="Google Shape;60;p19"/>
          <p:cNvSpPr txBox="1"/>
          <p:nvPr>
            <p:ph idx="1" type="body"/>
          </p:nvPr>
        </p:nvSpPr>
        <p:spPr>
          <a:xfrm>
            <a:off x="546668"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1" name="Google Shape;61;p19"/>
          <p:cNvSpPr txBox="1"/>
          <p:nvPr>
            <p:ph idx="6" type="body"/>
          </p:nvPr>
        </p:nvSpPr>
        <p:spPr>
          <a:xfrm>
            <a:off x="556692"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19"/>
          <p:cNvSpPr txBox="1"/>
          <p:nvPr>
            <p:ph idx="7" type="body"/>
          </p:nvPr>
        </p:nvSpPr>
        <p:spPr>
          <a:xfrm>
            <a:off x="2789482"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19"/>
          <p:cNvSpPr txBox="1"/>
          <p:nvPr>
            <p:ph idx="8" type="body"/>
          </p:nvPr>
        </p:nvSpPr>
        <p:spPr>
          <a:xfrm>
            <a:off x="278948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19"/>
          <p:cNvSpPr txBox="1"/>
          <p:nvPr>
            <p:ph idx="9" type="body"/>
          </p:nvPr>
        </p:nvSpPr>
        <p:spPr>
          <a:xfrm>
            <a:off x="5032296"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5" name="Google Shape;65;p19"/>
          <p:cNvSpPr txBox="1"/>
          <p:nvPr>
            <p:ph idx="13" type="body"/>
          </p:nvPr>
        </p:nvSpPr>
        <p:spPr>
          <a:xfrm>
            <a:off x="502920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19"/>
          <p:cNvSpPr txBox="1"/>
          <p:nvPr>
            <p:ph idx="14" type="body"/>
          </p:nvPr>
        </p:nvSpPr>
        <p:spPr>
          <a:xfrm>
            <a:off x="7275110"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7" name="Google Shape;67;p19"/>
          <p:cNvSpPr txBox="1"/>
          <p:nvPr>
            <p:ph idx="15" type="body"/>
          </p:nvPr>
        </p:nvSpPr>
        <p:spPr>
          <a:xfrm>
            <a:off x="727511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19"/>
          <p:cNvSpPr txBox="1"/>
          <p:nvPr>
            <p:ph idx="16" type="body"/>
          </p:nvPr>
        </p:nvSpPr>
        <p:spPr>
          <a:xfrm>
            <a:off x="9517923"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9" name="Google Shape;69;p19"/>
          <p:cNvSpPr txBox="1"/>
          <p:nvPr>
            <p:ph idx="17" type="body"/>
          </p:nvPr>
        </p:nvSpPr>
        <p:spPr>
          <a:xfrm>
            <a:off x="951792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0" name="Google Shape;70;p19"/>
          <p:cNvSpPr/>
          <p:nvPr>
            <p:ph idx="18" type="pic"/>
          </p:nvPr>
        </p:nvSpPr>
        <p:spPr>
          <a:xfrm>
            <a:off x="878337" y="2555551"/>
            <a:ext cx="1484985" cy="128016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71" name="Shape 71"/>
        <p:cNvGrpSpPr/>
        <p:nvPr/>
      </p:nvGrpSpPr>
      <p:grpSpPr>
        <a:xfrm>
          <a:off x="0" y="0"/>
          <a:ext cx="0" cy="0"/>
          <a:chOff x="0" y="0"/>
          <a:chExt cx="0" cy="0"/>
        </a:xfrm>
      </p:grpSpPr>
      <p:grpSp>
        <p:nvGrpSpPr>
          <p:cNvPr id="72" name="Google Shape;72;p20"/>
          <p:cNvGrpSpPr/>
          <p:nvPr/>
        </p:nvGrpSpPr>
        <p:grpSpPr>
          <a:xfrm>
            <a:off x="0" y="-8467"/>
            <a:ext cx="12192000" cy="6866467"/>
            <a:chOff x="0" y="-8467"/>
            <a:chExt cx="12192000" cy="6866467"/>
          </a:xfrm>
        </p:grpSpPr>
        <p:sp>
          <p:nvSpPr>
            <p:cNvPr id="73" name="Google Shape;73;p20"/>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74" name="Google Shape;74;p20"/>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75" name="Google Shape;75;p20"/>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76" name="Google Shape;76;p20"/>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77" name="Google Shape;77;p20"/>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78" name="Google Shape;78;p20"/>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0"/>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80" name="Google Shape;80;p20"/>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81" name="Google Shape;81;p20"/>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82" name="Google Shape;82;p20"/>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20"/>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0"/>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85" name="Google Shape;85;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2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1" name="Google Shape;91;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22"/>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2"/>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2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0" name="Shape 100"/>
        <p:cNvGrpSpPr/>
        <p:nvPr/>
      </p:nvGrpSpPr>
      <p:grpSpPr>
        <a:xfrm>
          <a:off x="0" y="0"/>
          <a:ext cx="0" cy="0"/>
          <a:chOff x="0" y="0"/>
          <a:chExt cx="0" cy="0"/>
        </a:xfrm>
      </p:grpSpPr>
      <p:sp>
        <p:nvSpPr>
          <p:cNvPr id="101" name="Google Shape;101;p2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3"/>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23"/>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4" name="Google Shape;104;p2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7" name="Shape 107"/>
        <p:cNvGrpSpPr/>
        <p:nvPr/>
      </p:nvGrpSpPr>
      <p:grpSpPr>
        <a:xfrm>
          <a:off x="0" y="0"/>
          <a:ext cx="0" cy="0"/>
          <a:chOff x="0" y="0"/>
          <a:chExt cx="0" cy="0"/>
        </a:xfrm>
      </p:grpSpPr>
      <p:sp>
        <p:nvSpPr>
          <p:cNvPr id="108" name="Google Shape;108;p2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4"/>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0" name="Google Shape;110;p24"/>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1" name="Google Shape;111;p24"/>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2" name="Google Shape;112;p24"/>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3" name="Google Shape;113;p2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2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p2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2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2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5" name="Shape 125"/>
        <p:cNvGrpSpPr/>
        <p:nvPr/>
      </p:nvGrpSpPr>
      <p:grpSpPr>
        <a:xfrm>
          <a:off x="0" y="0"/>
          <a:ext cx="0" cy="0"/>
          <a:chOff x="0" y="0"/>
          <a:chExt cx="0" cy="0"/>
        </a:xfrm>
      </p:grpSpPr>
      <p:sp>
        <p:nvSpPr>
          <p:cNvPr id="126" name="Google Shape;126;p27"/>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7"/>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8" name="Google Shape;128;p27"/>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129" name="Google Shape;129;p2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28"/>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8"/>
          <p:cNvSpPr/>
          <p:nvPr>
            <p:ph idx="2" type="pic"/>
          </p:nvPr>
        </p:nvSpPr>
        <p:spPr>
          <a:xfrm>
            <a:off x="677334" y="609600"/>
            <a:ext cx="8596668" cy="3845718"/>
          </a:xfrm>
          <a:prstGeom prst="rect">
            <a:avLst/>
          </a:prstGeom>
          <a:noFill/>
          <a:ln>
            <a:noFill/>
          </a:ln>
        </p:spPr>
      </p:sp>
      <p:sp>
        <p:nvSpPr>
          <p:cNvPr id="135" name="Google Shape;135;p28"/>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6" name="Google Shape;136;p2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2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39" name="Shape 139"/>
        <p:cNvGrpSpPr/>
        <p:nvPr/>
      </p:nvGrpSpPr>
      <p:grpSpPr>
        <a:xfrm>
          <a:off x="0" y="0"/>
          <a:ext cx="0" cy="0"/>
          <a:chOff x="0" y="0"/>
          <a:chExt cx="0" cy="0"/>
        </a:xfrm>
      </p:grpSpPr>
      <p:sp>
        <p:nvSpPr>
          <p:cNvPr id="140" name="Google Shape;140;p29"/>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9"/>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2" name="Google Shape;142;p2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2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45" name="Shape 145"/>
        <p:cNvGrpSpPr/>
        <p:nvPr/>
      </p:nvGrpSpPr>
      <p:grpSpPr>
        <a:xfrm>
          <a:off x="0" y="0"/>
          <a:ext cx="0" cy="0"/>
          <a:chOff x="0" y="0"/>
          <a:chExt cx="0" cy="0"/>
        </a:xfrm>
      </p:grpSpPr>
      <p:sp>
        <p:nvSpPr>
          <p:cNvPr id="146" name="Google Shape;146;p30"/>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0"/>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8" name="Google Shape;148;p30"/>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9" name="Google Shape;149;p3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3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2" name="Google Shape;152;p30"/>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53" name="Google Shape;153;p30"/>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54" name="Shape 154"/>
        <p:cNvGrpSpPr/>
        <p:nvPr/>
      </p:nvGrpSpPr>
      <p:grpSpPr>
        <a:xfrm>
          <a:off x="0" y="0"/>
          <a:ext cx="0" cy="0"/>
          <a:chOff x="0" y="0"/>
          <a:chExt cx="0" cy="0"/>
        </a:xfrm>
      </p:grpSpPr>
      <p:sp>
        <p:nvSpPr>
          <p:cNvPr id="155" name="Google Shape;155;p31"/>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1"/>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57" name="Google Shape;157;p3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3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3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60" name="Shape 160"/>
        <p:cNvGrpSpPr/>
        <p:nvPr/>
      </p:nvGrpSpPr>
      <p:grpSpPr>
        <a:xfrm>
          <a:off x="0" y="0"/>
          <a:ext cx="0" cy="0"/>
          <a:chOff x="0" y="0"/>
          <a:chExt cx="0" cy="0"/>
        </a:xfrm>
      </p:grpSpPr>
      <p:sp>
        <p:nvSpPr>
          <p:cNvPr id="161" name="Google Shape;161;p32"/>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2"/>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63" name="Google Shape;163;p32"/>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64" name="Google Shape;164;p3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3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3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32"/>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68" name="Google Shape;168;p32"/>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69" name="Shape 169"/>
        <p:cNvGrpSpPr/>
        <p:nvPr/>
      </p:nvGrpSpPr>
      <p:grpSpPr>
        <a:xfrm>
          <a:off x="0" y="0"/>
          <a:ext cx="0" cy="0"/>
          <a:chOff x="0" y="0"/>
          <a:chExt cx="0" cy="0"/>
        </a:xfrm>
      </p:grpSpPr>
      <p:sp>
        <p:nvSpPr>
          <p:cNvPr id="170" name="Google Shape;170;p33"/>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33"/>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2" name="Google Shape;172;p33"/>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73" name="Google Shape;173;p3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3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6" name="Shape 176"/>
        <p:cNvGrpSpPr/>
        <p:nvPr/>
      </p:nvGrpSpPr>
      <p:grpSpPr>
        <a:xfrm>
          <a:off x="0" y="0"/>
          <a:ext cx="0" cy="0"/>
          <a:chOff x="0" y="0"/>
          <a:chExt cx="0" cy="0"/>
        </a:xfrm>
      </p:grpSpPr>
      <p:sp>
        <p:nvSpPr>
          <p:cNvPr id="177" name="Google Shape;177;p3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34"/>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9" name="Google Shape;179;p3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3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3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2" name="Shape 182"/>
        <p:cNvGrpSpPr/>
        <p:nvPr/>
      </p:nvGrpSpPr>
      <p:grpSpPr>
        <a:xfrm>
          <a:off x="0" y="0"/>
          <a:ext cx="0" cy="0"/>
          <a:chOff x="0" y="0"/>
          <a:chExt cx="0" cy="0"/>
        </a:xfrm>
      </p:grpSpPr>
      <p:sp>
        <p:nvSpPr>
          <p:cNvPr id="183" name="Google Shape;183;p35"/>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35"/>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5" name="Google Shape;185;p3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3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3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188" name="Shape 188"/>
        <p:cNvGrpSpPr/>
        <p:nvPr/>
      </p:nvGrpSpPr>
      <p:grpSpPr>
        <a:xfrm>
          <a:off x="0" y="0"/>
          <a:ext cx="0" cy="0"/>
          <a:chOff x="0" y="0"/>
          <a:chExt cx="0" cy="0"/>
        </a:xfrm>
      </p:grpSpPr>
      <p:sp>
        <p:nvSpPr>
          <p:cNvPr id="189" name="Google Shape;189;p36"/>
          <p:cNvSpPr/>
          <p:nvPr>
            <p:ph idx="2" type="pic"/>
          </p:nvPr>
        </p:nvSpPr>
        <p:spPr>
          <a:xfrm>
            <a:off x="0" y="0"/>
            <a:ext cx="12192000" cy="6858000"/>
          </a:xfrm>
          <a:prstGeom prst="rect">
            <a:avLst/>
          </a:prstGeom>
          <a:noFill/>
          <a:ln>
            <a:noFill/>
          </a:ln>
        </p:spPr>
      </p:sp>
      <p:sp>
        <p:nvSpPr>
          <p:cNvPr descr="Tall office building looking up" id="190" name="Google Shape;190;p36"/>
          <p:cNvSpPr/>
          <p:nvPr/>
        </p:nvSpPr>
        <p:spPr>
          <a:xfrm>
            <a:off x="3718560" y="1181123"/>
            <a:ext cx="4754880" cy="4495754"/>
          </a:xfrm>
          <a:prstGeom prst="rect">
            <a:avLst/>
          </a:prstGeom>
          <a:solidFill>
            <a:schemeClr val="accent5">
              <a:alpha val="40000"/>
            </a:schemeClr>
          </a:solidFill>
          <a:ln cap="flat" cmpd="sng" w="603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91" name="Google Shape;191;p36"/>
          <p:cNvSpPr txBox="1"/>
          <p:nvPr>
            <p:ph idx="1" type="body"/>
          </p:nvPr>
        </p:nvSpPr>
        <p:spPr>
          <a:xfrm>
            <a:off x="4149139" y="4859469"/>
            <a:ext cx="3924934" cy="490538"/>
          </a:xfrm>
          <a:prstGeom prst="rect">
            <a:avLst/>
          </a:prstGeom>
          <a:noFill/>
          <a:ln>
            <a:noFill/>
          </a:ln>
        </p:spPr>
        <p:txBody>
          <a:bodyPr anchorCtr="0" anchor="t" bIns="45700" lIns="91425" spcFirstLastPara="1" rIns="91425" wrap="square" tIns="45700">
            <a:normAutofit/>
          </a:bodyPr>
          <a:lstStyle>
            <a:lvl1pPr indent="-228600" lvl="0" marL="457200" algn="r">
              <a:spcBef>
                <a:spcPts val="1000"/>
              </a:spcBef>
              <a:spcAft>
                <a:spcPts val="0"/>
              </a:spcAft>
              <a:buSzPts val="1920"/>
              <a:buNone/>
              <a:defRPr b="1" sz="2400">
                <a:solidFill>
                  <a:schemeClr val="accent4"/>
                </a:solidFill>
                <a:latin typeface="Calibri"/>
                <a:ea typeface="Calibri"/>
                <a:cs typeface="Calibri"/>
                <a:sym typeface="Calibri"/>
              </a:defRPr>
            </a:lvl1pPr>
            <a:lvl2pPr indent="-228600" lvl="1" marL="914400" algn="l">
              <a:spcBef>
                <a:spcPts val="1000"/>
              </a:spcBef>
              <a:spcAft>
                <a:spcPts val="0"/>
              </a:spcAft>
              <a:buSzPts val="1280"/>
              <a:buNone/>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92" name="Google Shape;192;p36"/>
          <p:cNvSpPr txBox="1"/>
          <p:nvPr>
            <p:ph type="title"/>
          </p:nvPr>
        </p:nvSpPr>
        <p:spPr>
          <a:xfrm>
            <a:off x="4149139" y="1529685"/>
            <a:ext cx="3924934" cy="1695637"/>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Clr>
                <a:schemeClr val="lt1"/>
              </a:buClr>
              <a:buSzPts val="4800"/>
              <a:buFont typeface="Trebuchet MS"/>
              <a:buNone/>
              <a:defRPr b="1" sz="4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5"/>
          <p:cNvGrpSpPr/>
          <p:nvPr/>
        </p:nvGrpSpPr>
        <p:grpSpPr>
          <a:xfrm>
            <a:off x="0" y="-8467"/>
            <a:ext cx="12192000" cy="6866467"/>
            <a:chOff x="0" y="-8467"/>
            <a:chExt cx="12192000" cy="6866467"/>
          </a:xfrm>
        </p:grpSpPr>
        <p:cxnSp>
          <p:nvCxnSpPr>
            <p:cNvPr id="11" name="Google Shape;11;p15"/>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12" name="Google Shape;12;p15"/>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13" name="Google Shape;13;p15"/>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4" name="Google Shape;14;p15"/>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5"/>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5"/>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7" name="Google Shape;17;p15"/>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8" name="Google Shape;18;p15"/>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5"/>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5"/>
            <p:cNvSpPr/>
            <p:nvPr/>
          </p:nvSpPr>
          <p:spPr>
            <a:xfrm>
              <a:off x="0" y="4013200"/>
              <a:ext cx="448733" cy="2844800"/>
            </a:xfrm>
            <a:prstGeom prst="triangle">
              <a:avLst>
                <a:gd fmla="val 0" name="adj"/>
              </a:avLst>
            </a:prstGeom>
            <a:solidFill>
              <a:schemeClr val="accent1">
                <a:alpha val="7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15"/>
          <p:cNvSpPr txBox="1"/>
          <p:nvPr/>
        </p:nvSpPr>
        <p:spPr>
          <a:xfrm>
            <a:off x="660396"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chemeClr val="accent2"/>
                </a:solidFill>
                <a:latin typeface="Trebuchet MS"/>
                <a:ea typeface="Trebuchet MS"/>
                <a:cs typeface="Trebuchet MS"/>
                <a:sym typeface="Trebuchet MS"/>
              </a:rPr>
              <a:t>9/2/2026</a:t>
            </a:r>
            <a:endParaRPr b="0" i="0" sz="1100" u="none" cap="none" strike="noStrike">
              <a:solidFill>
                <a:schemeClr val="accent2"/>
              </a:solidFill>
              <a:latin typeface="Trebuchet MS"/>
              <a:ea typeface="Trebuchet MS"/>
              <a:cs typeface="Trebuchet MS"/>
              <a:sym typeface="Trebuchet MS"/>
            </a:endParaRPr>
          </a:p>
        </p:txBody>
      </p:sp>
      <p:sp>
        <p:nvSpPr>
          <p:cNvPr id="27" name="Google Shape;27;p15"/>
          <p:cNvSpPr txBox="1"/>
          <p:nvPr/>
        </p:nvSpPr>
        <p:spPr>
          <a:xfrm>
            <a:off x="1445526" y="6378906"/>
            <a:ext cx="41148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chemeClr val="accent2"/>
                </a:solidFill>
                <a:latin typeface="Trebuchet MS"/>
                <a:ea typeface="Trebuchet MS"/>
                <a:cs typeface="Trebuchet MS"/>
                <a:sym typeface="Trebuchet MS"/>
              </a:rPr>
              <a:t>Annual Review</a:t>
            </a:r>
            <a:endParaRPr/>
          </a:p>
        </p:txBody>
      </p:sp>
      <p:sp>
        <p:nvSpPr>
          <p:cNvPr id="28" name="Google Shape;28;p15"/>
          <p:cNvSpPr txBox="1"/>
          <p:nvPr/>
        </p:nvSpPr>
        <p:spPr>
          <a:xfrm>
            <a:off x="8805338"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4"/>
                </a:solidFill>
                <a:latin typeface="Trebuchet MS"/>
                <a:ea typeface="Trebuchet MS"/>
                <a:cs typeface="Trebuchet MS"/>
                <a:sym typeface="Trebuchet MS"/>
              </a:rPr>
              <a:t>‹#›</a:t>
            </a:fld>
            <a:endParaRPr b="0" i="0" sz="1100" u="none" cap="none" strike="noStrike">
              <a:solidFill>
                <a:schemeClr val="accent4"/>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8.png"/><Relationship Id="rId7" Type="http://schemas.openxmlformats.org/officeDocument/2006/relationships/image" Target="../media/image29.png"/><Relationship Id="rId8"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15.png"/><Relationship Id="rId5" Type="http://schemas.openxmlformats.org/officeDocument/2006/relationships/image" Target="../media/image25.png"/><Relationship Id="rId6" Type="http://schemas.openxmlformats.org/officeDocument/2006/relationships/image" Target="../media/image30.png"/><Relationship Id="rId7"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28.png"/><Relationship Id="rId5" Type="http://schemas.openxmlformats.org/officeDocument/2006/relationships/image" Target="../media/image10.png"/><Relationship Id="rId6"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31.png"/><Relationship Id="rId6"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22.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26.png"/><Relationship Id="rId5"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hyperlink" Target="https://github.com/pragyasrivastavaaa/Major-Project-Seasonal-Agriculture-Performance-Analysis_VOIS-INTERNSHIP.git"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
          <p:cNvSpPr txBox="1"/>
          <p:nvPr>
            <p:ph idx="1" type="body"/>
          </p:nvPr>
        </p:nvSpPr>
        <p:spPr>
          <a:xfrm>
            <a:off x="735775" y="3883200"/>
            <a:ext cx="8690400" cy="1275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sz="1850">
                <a:solidFill>
                  <a:srgbClr val="3F3F3F"/>
                </a:solidFill>
                <a:latin typeface="Times New Roman"/>
                <a:ea typeface="Times New Roman"/>
                <a:cs typeface="Times New Roman"/>
                <a:sym typeface="Times New Roman"/>
              </a:rPr>
              <a:t>Student Name : </a:t>
            </a:r>
            <a:r>
              <a:rPr b="0" lang="en-US" sz="1850">
                <a:solidFill>
                  <a:srgbClr val="3F3F3F"/>
                </a:solidFill>
                <a:latin typeface="Times New Roman"/>
                <a:ea typeface="Times New Roman"/>
                <a:cs typeface="Times New Roman"/>
                <a:sym typeface="Times New Roman"/>
              </a:rPr>
              <a:t>PRAGYA SRIVASTAVA</a:t>
            </a:r>
            <a:r>
              <a:rPr b="0" lang="en-US" sz="1850">
                <a:solidFill>
                  <a:srgbClr val="3F3F3F"/>
                </a:solidFill>
                <a:latin typeface="Times New Roman"/>
                <a:ea typeface="Times New Roman"/>
                <a:cs typeface="Times New Roman"/>
                <a:sym typeface="Times New Roman"/>
              </a:rPr>
              <a:t> </a:t>
            </a:r>
            <a:endParaRPr b="0" sz="1850">
              <a:solidFill>
                <a:srgbClr val="3F3F3F"/>
              </a:solidFill>
              <a:latin typeface="Times New Roman"/>
              <a:ea typeface="Times New Roman"/>
              <a:cs typeface="Times New Roman"/>
              <a:sym typeface="Times New Roman"/>
            </a:endParaRPr>
          </a:p>
          <a:p>
            <a:pPr indent="0" lvl="0" marL="0" rtl="0" algn="l">
              <a:spcBef>
                <a:spcPts val="0"/>
              </a:spcBef>
              <a:spcAft>
                <a:spcPts val="0"/>
              </a:spcAft>
              <a:buSzPts val="1600"/>
              <a:buNone/>
            </a:pPr>
            <a:r>
              <a:rPr lang="en-US" sz="1850">
                <a:solidFill>
                  <a:srgbClr val="3F3F3F"/>
                </a:solidFill>
                <a:latin typeface="Times New Roman"/>
                <a:ea typeface="Times New Roman"/>
                <a:cs typeface="Times New Roman"/>
                <a:sym typeface="Times New Roman"/>
              </a:rPr>
              <a:t>College Name :</a:t>
            </a:r>
            <a:r>
              <a:rPr b="0" lang="en-US" sz="1850">
                <a:solidFill>
                  <a:srgbClr val="3F3F3F"/>
                </a:solidFill>
                <a:latin typeface="Times New Roman"/>
                <a:ea typeface="Times New Roman"/>
                <a:cs typeface="Times New Roman"/>
                <a:sym typeface="Times New Roman"/>
              </a:rPr>
              <a:t>DELHI TECHNICAL CAMPUS,GREATER NOIDA(AFFILIATED TO </a:t>
            </a:r>
            <a:r>
              <a:rPr b="0" lang="en-US" sz="1850">
                <a:solidFill>
                  <a:srgbClr val="3F3F3F"/>
                </a:solidFill>
                <a:latin typeface="Times New Roman"/>
                <a:ea typeface="Times New Roman"/>
                <a:cs typeface="Times New Roman"/>
                <a:sym typeface="Times New Roman"/>
              </a:rPr>
              <a:t>GURU GOBIND</a:t>
            </a:r>
            <a:r>
              <a:rPr b="0" lang="en-US" sz="1850">
                <a:solidFill>
                  <a:srgbClr val="3F3F3F"/>
                </a:solidFill>
                <a:latin typeface="Times New Roman"/>
                <a:ea typeface="Times New Roman"/>
                <a:cs typeface="Times New Roman"/>
                <a:sym typeface="Times New Roman"/>
              </a:rPr>
              <a:t> SINGH INDRAPRASTHA UNIVERSITY,NEW DELHI)</a:t>
            </a:r>
            <a:endParaRPr b="0" sz="1850">
              <a:solidFill>
                <a:srgbClr val="3F3F3F"/>
              </a:solidFill>
              <a:latin typeface="Times New Roman"/>
              <a:ea typeface="Times New Roman"/>
              <a:cs typeface="Times New Roman"/>
              <a:sym typeface="Times New Roman"/>
            </a:endParaRPr>
          </a:p>
          <a:p>
            <a:pPr indent="0" lvl="0" marL="0" rtl="0" algn="l">
              <a:spcBef>
                <a:spcPts val="0"/>
              </a:spcBef>
              <a:spcAft>
                <a:spcPts val="0"/>
              </a:spcAft>
              <a:buClr>
                <a:schemeClr val="dk1"/>
              </a:buClr>
              <a:buFont typeface="Arial"/>
              <a:buNone/>
            </a:pPr>
            <a:r>
              <a:rPr lang="en-US" sz="1850">
                <a:solidFill>
                  <a:srgbClr val="3F3F3F"/>
                </a:solidFill>
                <a:latin typeface="Times New Roman"/>
                <a:ea typeface="Times New Roman"/>
                <a:cs typeface="Times New Roman"/>
                <a:sym typeface="Times New Roman"/>
              </a:rPr>
              <a:t>AICTE STU ID : </a:t>
            </a:r>
            <a:r>
              <a:rPr b="0" lang="en-US" sz="1850">
                <a:solidFill>
                  <a:srgbClr val="3F3F3F"/>
                </a:solidFill>
                <a:highlight>
                  <a:schemeClr val="lt1"/>
                </a:highlight>
                <a:latin typeface="Times New Roman"/>
                <a:ea typeface="Times New Roman"/>
                <a:cs typeface="Times New Roman"/>
                <a:sym typeface="Times New Roman"/>
              </a:rPr>
              <a:t>STU68639e54e89091751359060</a:t>
            </a:r>
            <a:endParaRPr b="0" sz="1850">
              <a:solidFill>
                <a:srgbClr val="3F3F3F"/>
              </a:solidFill>
              <a:latin typeface="Times New Roman"/>
              <a:ea typeface="Times New Roman"/>
              <a:cs typeface="Times New Roman"/>
              <a:sym typeface="Times New Roman"/>
            </a:endParaRPr>
          </a:p>
        </p:txBody>
      </p:sp>
      <p:sp>
        <p:nvSpPr>
          <p:cNvPr id="198" name="Google Shape;198;p1"/>
          <p:cNvSpPr txBox="1"/>
          <p:nvPr>
            <p:ph type="title"/>
          </p:nvPr>
        </p:nvSpPr>
        <p:spPr>
          <a:xfrm>
            <a:off x="675950" y="2628900"/>
            <a:ext cx="9444600" cy="7434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72727"/>
              <a:buFont typeface="Trebuchet MS"/>
              <a:buNone/>
            </a:pPr>
            <a:r>
              <a:rPr b="1" lang="en-US" sz="4400">
                <a:latin typeface="Times New Roman"/>
                <a:ea typeface="Times New Roman"/>
                <a:cs typeface="Times New Roman"/>
                <a:sym typeface="Times New Roman"/>
              </a:rPr>
              <a:t>Major Project: Seasonal Agriculture Performance Analysis</a:t>
            </a:r>
            <a:r>
              <a:rPr lang="en-US" sz="3200"/>
              <a:t> </a:t>
            </a:r>
            <a:endParaRPr sz="3200"/>
          </a:p>
        </p:txBody>
      </p:sp>
      <p:pic>
        <p:nvPicPr>
          <p:cNvPr id="199" name="Google Shape;199;p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822"/>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5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animEffect filter="fade" transition="in">
                                      <p:cBhvr>
                                        <p:cTn dur="500"/>
                                        <p:tgtEl>
                                          <p:spTgt spid="1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2" st="2"/>
                                            </p:txEl>
                                          </p:spTgt>
                                        </p:tgtEl>
                                        <p:attrNameLst>
                                          <p:attrName>style.visibility</p:attrName>
                                        </p:attrNameLst>
                                      </p:cBhvr>
                                      <p:to>
                                        <p:strVal val="visible"/>
                                      </p:to>
                                    </p:set>
                                    <p:animEffect filter="fade" transition="in">
                                      <p:cBhvr>
                                        <p:cTn dur="500"/>
                                        <p:tgtEl>
                                          <p:spTgt spid="19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
          <p:cNvSpPr txBox="1"/>
          <p:nvPr>
            <p:ph idx="1" type="body"/>
          </p:nvPr>
        </p:nvSpPr>
        <p:spPr>
          <a:xfrm>
            <a:off x="801000" y="1320150"/>
            <a:ext cx="6292800" cy="36081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en-US">
                <a:latin typeface="Times New Roman"/>
                <a:ea typeface="Times New Roman"/>
                <a:cs typeface="Times New Roman"/>
                <a:sym typeface="Times New Roman"/>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a:latin typeface="Times New Roman"/>
              <a:ea typeface="Times New Roman"/>
              <a:cs typeface="Times New Roman"/>
              <a:sym typeface="Times New Roman"/>
            </a:endParaRPr>
          </a:p>
        </p:txBody>
      </p:sp>
      <p:sp>
        <p:nvSpPr>
          <p:cNvPr id="205" name="Google Shape;205;p2"/>
          <p:cNvSpPr txBox="1"/>
          <p:nvPr>
            <p:ph type="title"/>
          </p:nvPr>
        </p:nvSpPr>
        <p:spPr>
          <a:xfrm>
            <a:off x="754602" y="550417"/>
            <a:ext cx="6995604" cy="790111"/>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latin typeface="Times New Roman"/>
                <a:ea typeface="Times New Roman"/>
                <a:cs typeface="Times New Roman"/>
                <a:sym typeface="Times New Roman"/>
              </a:rPr>
              <a:t>PROBLEM  STATEMENT</a:t>
            </a:r>
            <a:endParaRPr>
              <a:latin typeface="Times New Roman"/>
              <a:ea typeface="Times New Roman"/>
              <a:cs typeface="Times New Roman"/>
              <a:sym typeface="Times New Roman"/>
            </a:endParaRPr>
          </a:p>
        </p:txBody>
      </p:sp>
      <p:pic>
        <p:nvPicPr>
          <p:cNvPr id="206" name="Google Shape;206;p2"/>
          <p:cNvPicPr preferRelativeResize="0"/>
          <p:nvPr/>
        </p:nvPicPr>
        <p:blipFill rotWithShape="1">
          <a:blip r:embed="rId3">
            <a:alphaModFix/>
          </a:blip>
          <a:srcRect b="0" l="0" r="0" t="0"/>
          <a:stretch/>
        </p:blipFill>
        <p:spPr>
          <a:xfrm>
            <a:off x="7995684" y="2930834"/>
            <a:ext cx="2760759" cy="3264407"/>
          </a:xfrm>
          <a:prstGeom prst="rect">
            <a:avLst/>
          </a:prstGeom>
          <a:noFill/>
          <a:ln>
            <a:noFill/>
          </a:ln>
        </p:spPr>
      </p:pic>
      <p:pic>
        <p:nvPicPr>
          <p:cNvPr id="207" name="Google Shape;207;p2"/>
          <p:cNvPicPr preferRelativeResize="0"/>
          <p:nvPr/>
        </p:nvPicPr>
        <p:blipFill rotWithShape="1">
          <a:blip r:embed="rId4">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05"/>
                                        </p:tgtEl>
                                        <p:attrNameLst>
                                          <p:attrName>style.visibility</p:attrName>
                                        </p:attrNameLst>
                                      </p:cBhvr>
                                      <p:to>
                                        <p:strVal val="visible"/>
                                      </p:to>
                                    </p:set>
                                    <p:anim calcmode="lin" valueType="num">
                                      <p:cBhvr additive="base">
                                        <p:cTn dur="500"/>
                                        <p:tgtEl>
                                          <p:spTgt spid="205"/>
                                        </p:tgtEl>
                                        <p:attrNameLst>
                                          <p:attrName>ppt_w</p:attrName>
                                        </p:attrNameLst>
                                      </p:cBhvr>
                                      <p:tavLst>
                                        <p:tav fmla="" tm="0">
                                          <p:val>
                                            <p:strVal val="0"/>
                                          </p:val>
                                        </p:tav>
                                        <p:tav fmla="" tm="100000">
                                          <p:val>
                                            <p:strVal val="#ppt_w"/>
                                          </p:val>
                                        </p:tav>
                                      </p:tavLst>
                                    </p:anim>
                                    <p:anim calcmode="lin" valueType="num">
                                      <p:cBhvr additive="base">
                                        <p:cTn dur="500"/>
                                        <p:tgtEl>
                                          <p:spTgt spid="20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animEffect filter="fade" transition="in">
                                      <p:cBhvr>
                                        <p:cTn dur="1000"/>
                                        <p:tgtEl>
                                          <p:spTgt spid="20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11" name="Shape 211"/>
        <p:cNvGrpSpPr/>
        <p:nvPr/>
      </p:nvGrpSpPr>
      <p:grpSpPr>
        <a:xfrm>
          <a:off x="0" y="0"/>
          <a:ext cx="0" cy="0"/>
          <a:chOff x="0" y="0"/>
          <a:chExt cx="0" cy="0"/>
        </a:xfrm>
      </p:grpSpPr>
      <p:sp>
        <p:nvSpPr>
          <p:cNvPr id="212" name="Google Shape;212;p3"/>
          <p:cNvSpPr txBox="1"/>
          <p:nvPr>
            <p:ph type="title"/>
          </p:nvPr>
        </p:nvSpPr>
        <p:spPr>
          <a:xfrm>
            <a:off x="647701" y="0"/>
            <a:ext cx="10285500" cy="8310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latin typeface="Times New Roman"/>
                <a:ea typeface="Times New Roman"/>
                <a:cs typeface="Times New Roman"/>
                <a:sym typeface="Times New Roman"/>
              </a:rPr>
              <a:t>PROJECT DESCRIPTION</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rebuchet MS"/>
              <a:buNone/>
            </a:pPr>
            <a:br>
              <a:rPr lang="en-US"/>
            </a:br>
            <a:endParaRPr/>
          </a:p>
        </p:txBody>
      </p:sp>
      <p:pic>
        <p:nvPicPr>
          <p:cNvPr id="213" name="Google Shape;213;p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pic>
        <p:nvPicPr>
          <p:cNvPr id="214" name="Google Shape;214;p3"/>
          <p:cNvPicPr preferRelativeResize="0"/>
          <p:nvPr/>
        </p:nvPicPr>
        <p:blipFill rotWithShape="1">
          <a:blip r:embed="rId4">
            <a:alphaModFix/>
          </a:blip>
          <a:srcRect b="0" l="0" r="0" t="0"/>
          <a:stretch/>
        </p:blipFill>
        <p:spPr>
          <a:xfrm>
            <a:off x="467359" y="6410461"/>
            <a:ext cx="3706253" cy="296092"/>
          </a:xfrm>
          <a:prstGeom prst="rect">
            <a:avLst/>
          </a:prstGeom>
          <a:noFill/>
          <a:ln>
            <a:noFill/>
          </a:ln>
        </p:spPr>
      </p:pic>
      <p:sp>
        <p:nvSpPr>
          <p:cNvPr id="215" name="Google Shape;215;p3"/>
          <p:cNvSpPr txBox="1"/>
          <p:nvPr/>
        </p:nvSpPr>
        <p:spPr>
          <a:xfrm>
            <a:off x="697350" y="565525"/>
            <a:ext cx="11217000" cy="5906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1850">
                <a:solidFill>
                  <a:srgbClr val="3F3F3F"/>
                </a:solidFill>
                <a:latin typeface="Times New Roman"/>
                <a:ea typeface="Times New Roman"/>
                <a:cs typeface="Times New Roman"/>
                <a:sym typeface="Times New Roman"/>
              </a:rPr>
              <a:t>This project analyzes Seasonal Agriculture Performance to understand how agricultural outcomes change across different seasons. It studies the influence of of environmental conditions, farming practices, resource usage, crop selection, and economic factors on agricultural performance.</a:t>
            </a:r>
            <a:endParaRPr sz="1850">
              <a:solidFill>
                <a:srgbClr val="3F3F3F"/>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b="1" lang="en-US" sz="1850" u="sng">
                <a:solidFill>
                  <a:srgbClr val="3F3F3F"/>
                </a:solidFill>
                <a:latin typeface="Times New Roman"/>
                <a:ea typeface="Times New Roman"/>
                <a:cs typeface="Times New Roman"/>
                <a:sym typeface="Times New Roman"/>
              </a:rPr>
              <a:t>Key Areas of Analysis</a:t>
            </a:r>
            <a:endParaRPr b="1" sz="1850" u="sng">
              <a:solidFill>
                <a:srgbClr val="3F3F3F"/>
              </a:solidFill>
              <a:latin typeface="Times New Roman"/>
              <a:ea typeface="Times New Roman"/>
              <a:cs typeface="Times New Roman"/>
              <a:sym typeface="Times New Roman"/>
            </a:endParaRPr>
          </a:p>
          <a:p>
            <a:pPr indent="-346075" lvl="0" marL="457200" rtl="0" algn="l">
              <a:lnSpc>
                <a:spcPct val="150000"/>
              </a:lnSpc>
              <a:spcBef>
                <a:spcPts val="0"/>
              </a:spcBef>
              <a:spcAft>
                <a:spcPts val="0"/>
              </a:spcAft>
              <a:buClr>
                <a:schemeClr val="accent4"/>
              </a:buClr>
              <a:buSzPts val="1850"/>
              <a:buFont typeface="Times New Roman"/>
              <a:buChar char="●"/>
            </a:pPr>
            <a:r>
              <a:rPr b="1" lang="en-US" sz="1850">
                <a:solidFill>
                  <a:srgbClr val="3F3F3F"/>
                </a:solidFill>
                <a:latin typeface="Times New Roman"/>
                <a:ea typeface="Times New Roman"/>
                <a:cs typeface="Times New Roman"/>
                <a:sym typeface="Times New Roman"/>
              </a:rPr>
              <a:t>Data Cleaning: </a:t>
            </a:r>
            <a:r>
              <a:rPr lang="en-US" sz="1850">
                <a:solidFill>
                  <a:srgbClr val="3F3F3F"/>
                </a:solidFill>
                <a:latin typeface="Times New Roman"/>
                <a:ea typeface="Times New Roman"/>
                <a:cs typeface="Times New Roman"/>
                <a:sym typeface="Times New Roman"/>
              </a:rPr>
              <a:t>This handles missing values,duplicates,data types and outliers.</a:t>
            </a:r>
            <a:endParaRPr sz="1850">
              <a:solidFill>
                <a:srgbClr val="3F3F3F"/>
              </a:solidFill>
              <a:latin typeface="Times New Roman"/>
              <a:ea typeface="Times New Roman"/>
              <a:cs typeface="Times New Roman"/>
              <a:sym typeface="Times New Roman"/>
            </a:endParaRPr>
          </a:p>
          <a:p>
            <a:pPr indent="-346075" lvl="0" marL="457200" rtl="0" algn="l">
              <a:lnSpc>
                <a:spcPct val="150000"/>
              </a:lnSpc>
              <a:spcBef>
                <a:spcPts val="0"/>
              </a:spcBef>
              <a:spcAft>
                <a:spcPts val="0"/>
              </a:spcAft>
              <a:buClr>
                <a:schemeClr val="accent4"/>
              </a:buClr>
              <a:buSzPts val="1850"/>
              <a:buFont typeface="Times New Roman"/>
              <a:buChar char="●"/>
            </a:pPr>
            <a:r>
              <a:rPr b="1" lang="en-US" sz="1850">
                <a:solidFill>
                  <a:srgbClr val="3F3F3F"/>
                </a:solidFill>
                <a:latin typeface="Times New Roman"/>
                <a:ea typeface="Times New Roman"/>
                <a:cs typeface="Times New Roman"/>
                <a:sym typeface="Times New Roman"/>
              </a:rPr>
              <a:t>Seasonal Analysis: </a:t>
            </a:r>
            <a:r>
              <a:rPr lang="en-US" sz="1850">
                <a:solidFill>
                  <a:srgbClr val="3F3F3F"/>
                </a:solidFill>
                <a:latin typeface="Times New Roman"/>
                <a:ea typeface="Times New Roman"/>
                <a:cs typeface="Times New Roman"/>
                <a:sym typeface="Times New Roman"/>
              </a:rPr>
              <a:t>Here comparison of yield, production, revenue, cost, and profit across seasons takes place.</a:t>
            </a:r>
            <a:endParaRPr sz="1850">
              <a:solidFill>
                <a:srgbClr val="3F3F3F"/>
              </a:solidFill>
              <a:latin typeface="Times New Roman"/>
              <a:ea typeface="Times New Roman"/>
              <a:cs typeface="Times New Roman"/>
              <a:sym typeface="Times New Roman"/>
            </a:endParaRPr>
          </a:p>
          <a:p>
            <a:pPr indent="-346075" lvl="0" marL="457200" rtl="0" algn="l">
              <a:lnSpc>
                <a:spcPct val="150000"/>
              </a:lnSpc>
              <a:spcBef>
                <a:spcPts val="0"/>
              </a:spcBef>
              <a:spcAft>
                <a:spcPts val="0"/>
              </a:spcAft>
              <a:buClr>
                <a:schemeClr val="accent4"/>
              </a:buClr>
              <a:buSzPts val="1850"/>
              <a:buFont typeface="Times New Roman"/>
              <a:buChar char="●"/>
            </a:pPr>
            <a:r>
              <a:rPr b="1" lang="en-US" sz="1850">
                <a:solidFill>
                  <a:srgbClr val="3F3F3F"/>
                </a:solidFill>
                <a:latin typeface="Times New Roman"/>
                <a:ea typeface="Times New Roman"/>
                <a:cs typeface="Times New Roman"/>
                <a:sym typeface="Times New Roman"/>
              </a:rPr>
              <a:t>Relationship Analysis: </a:t>
            </a:r>
            <a:r>
              <a:rPr lang="en-US" sz="1850">
                <a:solidFill>
                  <a:srgbClr val="3F3F3F"/>
                </a:solidFill>
                <a:latin typeface="Times New Roman"/>
                <a:ea typeface="Times New Roman"/>
                <a:cs typeface="Times New Roman"/>
                <a:sym typeface="Times New Roman"/>
              </a:rPr>
              <a:t>Here effect of rainfall, temperature, soil conditions, fertilizer, irrigation, and seed quality on crop yield is observed and analyzed.</a:t>
            </a:r>
            <a:endParaRPr sz="1850">
              <a:solidFill>
                <a:srgbClr val="3F3F3F"/>
              </a:solidFill>
              <a:latin typeface="Times New Roman"/>
              <a:ea typeface="Times New Roman"/>
              <a:cs typeface="Times New Roman"/>
              <a:sym typeface="Times New Roman"/>
            </a:endParaRPr>
          </a:p>
          <a:p>
            <a:pPr indent="-346075" lvl="0" marL="457200" rtl="0" algn="l">
              <a:lnSpc>
                <a:spcPct val="150000"/>
              </a:lnSpc>
              <a:spcBef>
                <a:spcPts val="0"/>
              </a:spcBef>
              <a:spcAft>
                <a:spcPts val="0"/>
              </a:spcAft>
              <a:buClr>
                <a:schemeClr val="accent4"/>
              </a:buClr>
              <a:buSzPts val="1850"/>
              <a:buFont typeface="Times New Roman"/>
              <a:buChar char="●"/>
            </a:pPr>
            <a:r>
              <a:rPr b="1" lang="en-US" sz="1850">
                <a:solidFill>
                  <a:srgbClr val="3F3F3F"/>
                </a:solidFill>
                <a:latin typeface="Times New Roman"/>
                <a:ea typeface="Times New Roman"/>
                <a:cs typeface="Times New Roman"/>
                <a:sym typeface="Times New Roman"/>
              </a:rPr>
              <a:t>Resource Analysis: </a:t>
            </a:r>
            <a:r>
              <a:rPr lang="en-US" sz="1850">
                <a:solidFill>
                  <a:srgbClr val="3F3F3F"/>
                </a:solidFill>
                <a:latin typeface="Times New Roman"/>
                <a:ea typeface="Times New Roman"/>
                <a:cs typeface="Times New Roman"/>
                <a:sym typeface="Times New Roman"/>
              </a:rPr>
              <a:t>This handles water usage and water-use efficiency across irrigation methods and seasons.</a:t>
            </a:r>
            <a:endParaRPr sz="1850">
              <a:solidFill>
                <a:srgbClr val="3F3F3F"/>
              </a:solidFill>
              <a:latin typeface="Times New Roman"/>
              <a:ea typeface="Times New Roman"/>
              <a:cs typeface="Times New Roman"/>
              <a:sym typeface="Times New Roman"/>
            </a:endParaRPr>
          </a:p>
          <a:p>
            <a:pPr indent="-346075" lvl="0" marL="457200" rtl="0" algn="l">
              <a:lnSpc>
                <a:spcPct val="150000"/>
              </a:lnSpc>
              <a:spcBef>
                <a:spcPts val="0"/>
              </a:spcBef>
              <a:spcAft>
                <a:spcPts val="0"/>
              </a:spcAft>
              <a:buClr>
                <a:schemeClr val="accent4"/>
              </a:buClr>
              <a:buSzPts val="1850"/>
              <a:buFont typeface="Times New Roman"/>
              <a:buChar char="●"/>
            </a:pPr>
            <a:r>
              <a:rPr b="1" lang="en-US" sz="1850">
                <a:solidFill>
                  <a:srgbClr val="3F3F3F"/>
                </a:solidFill>
                <a:latin typeface="Times New Roman"/>
                <a:ea typeface="Times New Roman"/>
                <a:cs typeface="Times New Roman"/>
                <a:sym typeface="Times New Roman"/>
              </a:rPr>
              <a:t>Economic Analysis: </a:t>
            </a:r>
            <a:r>
              <a:rPr lang="en-US" sz="1850">
                <a:solidFill>
                  <a:srgbClr val="3F3F3F"/>
                </a:solidFill>
                <a:latin typeface="Times New Roman"/>
                <a:ea typeface="Times New Roman"/>
                <a:cs typeface="Times New Roman"/>
                <a:sym typeface="Times New Roman"/>
              </a:rPr>
              <a:t>Here crop-wise and seasonal profitability and profit margins is analyzed.</a:t>
            </a:r>
            <a:endParaRPr sz="1850">
              <a:solidFill>
                <a:srgbClr val="3F3F3F"/>
              </a:solidFill>
              <a:latin typeface="Times New Roman"/>
              <a:ea typeface="Times New Roman"/>
              <a:cs typeface="Times New Roman"/>
              <a:sym typeface="Times New Roman"/>
            </a:endParaRPr>
          </a:p>
          <a:p>
            <a:pPr indent="-346075" lvl="0" marL="457200" rtl="0" algn="l">
              <a:lnSpc>
                <a:spcPct val="150000"/>
              </a:lnSpc>
              <a:spcBef>
                <a:spcPts val="0"/>
              </a:spcBef>
              <a:spcAft>
                <a:spcPts val="0"/>
              </a:spcAft>
              <a:buClr>
                <a:schemeClr val="accent4"/>
              </a:buClr>
              <a:buSzPts val="1850"/>
              <a:buFont typeface="Times New Roman"/>
              <a:buChar char="●"/>
            </a:pPr>
            <a:r>
              <a:rPr b="1" lang="en-US" sz="1850">
                <a:solidFill>
                  <a:srgbClr val="3F3F3F"/>
                </a:solidFill>
                <a:latin typeface="Times New Roman"/>
                <a:ea typeface="Times New Roman"/>
                <a:cs typeface="Times New Roman"/>
                <a:sym typeface="Times New Roman"/>
              </a:rPr>
              <a:t>Statistical &amp; Correlation Analysis: </a:t>
            </a:r>
            <a:r>
              <a:rPr lang="en-US" sz="1850">
                <a:solidFill>
                  <a:srgbClr val="3F3F3F"/>
                </a:solidFill>
                <a:latin typeface="Times New Roman"/>
                <a:ea typeface="Times New Roman"/>
                <a:cs typeface="Times New Roman"/>
                <a:sym typeface="Times New Roman"/>
              </a:rPr>
              <a:t>Identification of significant relationships and patterns takes place.</a:t>
            </a:r>
            <a:endParaRPr sz="1850">
              <a:solidFill>
                <a:srgbClr val="3F3F3F"/>
              </a:solidFill>
              <a:latin typeface="Times New Roman"/>
              <a:ea typeface="Times New Roman"/>
              <a:cs typeface="Times New Roman"/>
              <a:sym typeface="Times New Roman"/>
            </a:endParaRPr>
          </a:p>
          <a:p>
            <a:pPr indent="-346075" lvl="0" marL="457200" rtl="0" algn="l">
              <a:lnSpc>
                <a:spcPct val="150000"/>
              </a:lnSpc>
              <a:spcBef>
                <a:spcPts val="0"/>
              </a:spcBef>
              <a:spcAft>
                <a:spcPts val="0"/>
              </a:spcAft>
              <a:buClr>
                <a:schemeClr val="accent4"/>
              </a:buClr>
              <a:buSzPts val="1850"/>
              <a:buFont typeface="Times New Roman"/>
              <a:buChar char="●"/>
            </a:pPr>
            <a:r>
              <a:rPr b="1" lang="en-US" sz="1850">
                <a:solidFill>
                  <a:srgbClr val="3F3F3F"/>
                </a:solidFill>
                <a:latin typeface="Times New Roman"/>
                <a:ea typeface="Times New Roman"/>
                <a:cs typeface="Times New Roman"/>
                <a:sym typeface="Times New Roman"/>
              </a:rPr>
              <a:t>Visualizations: </a:t>
            </a:r>
            <a:r>
              <a:rPr lang="en-US" sz="1850">
                <a:solidFill>
                  <a:srgbClr val="3F3F3F"/>
                </a:solidFill>
                <a:latin typeface="Times New Roman"/>
                <a:ea typeface="Times New Roman"/>
                <a:cs typeface="Times New Roman"/>
                <a:sym typeface="Times New Roman"/>
              </a:rPr>
              <a:t>Bar charts, box plots, scatter plots,heatmaps,correlation matrices,etc are used.</a:t>
            </a:r>
            <a:endParaRPr sz="1850">
              <a:solidFill>
                <a:srgbClr val="3F3F3F"/>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lang="en-US" sz="1850">
                <a:solidFill>
                  <a:srgbClr val="3F3F3F"/>
                </a:solidFill>
                <a:latin typeface="Times New Roman"/>
                <a:ea typeface="Times New Roman"/>
                <a:cs typeface="Times New Roman"/>
                <a:sym typeface="Times New Roman"/>
              </a:rPr>
              <a:t>This project identifies and analyses seasonal trends, important agricultural factors, unusual patterns, and profitability differences leading to data-driven recommendations for better crop planning, irrigation, resource utilization, and seasonal agricultural decision-making and maximizing the profits.</a:t>
            </a:r>
            <a:endParaRPr sz="1850">
              <a:solidFill>
                <a:srgbClr val="3F3F3F"/>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sz="2000">
              <a:solidFill>
                <a:srgbClr val="3F3F3F"/>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2"/>
                                        </p:tgtEl>
                                        <p:attrNameLst>
                                          <p:attrName>style.visibility</p:attrName>
                                        </p:attrNameLst>
                                      </p:cBhvr>
                                      <p:to>
                                        <p:strVal val="visible"/>
                                      </p:to>
                                    </p:set>
                                    <p:anim calcmode="lin" valueType="num">
                                      <p:cBhvr additive="base">
                                        <p:cTn dur="500"/>
                                        <p:tgtEl>
                                          <p:spTgt spid="212"/>
                                        </p:tgtEl>
                                        <p:attrNameLst>
                                          <p:attrName>ppt_w</p:attrName>
                                        </p:attrNameLst>
                                      </p:cBhvr>
                                      <p:tavLst>
                                        <p:tav fmla="" tm="0">
                                          <p:val>
                                            <p:strVal val="0"/>
                                          </p:val>
                                        </p:tav>
                                        <p:tav fmla="" tm="100000">
                                          <p:val>
                                            <p:strVal val="#ppt_w"/>
                                          </p:val>
                                        </p:tav>
                                      </p:tavLst>
                                    </p:anim>
                                    <p:anim calcmode="lin" valueType="num">
                                      <p:cBhvr additive="base">
                                        <p:cTn dur="500"/>
                                        <p:tgtEl>
                                          <p:spTgt spid="21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
          <p:cNvSpPr txBox="1"/>
          <p:nvPr>
            <p:ph idx="1" type="body"/>
          </p:nvPr>
        </p:nvSpPr>
        <p:spPr>
          <a:xfrm>
            <a:off x="721350" y="1255775"/>
            <a:ext cx="10386600" cy="5406900"/>
          </a:xfrm>
          <a:prstGeom prst="rect">
            <a:avLst/>
          </a:prstGeom>
          <a:noFill/>
          <a:ln>
            <a:noFill/>
          </a:ln>
        </p:spPr>
        <p:txBody>
          <a:bodyPr anchorCtr="0" anchor="t" bIns="45700" lIns="91425" spcFirstLastPara="1" rIns="91425" wrap="square" tIns="45700">
            <a:normAutofit fontScale="92500"/>
          </a:bodyPr>
          <a:lstStyle/>
          <a:p>
            <a:pPr indent="0" lvl="0" marL="0" rtl="0" algn="just">
              <a:lnSpc>
                <a:spcPct val="150000"/>
              </a:lnSpc>
              <a:spcBef>
                <a:spcPts val="0"/>
              </a:spcBef>
              <a:spcAft>
                <a:spcPts val="0"/>
              </a:spcAft>
              <a:buSzPct val="144000"/>
              <a:buNone/>
            </a:pPr>
            <a:r>
              <a:rPr lang="en-US">
                <a:solidFill>
                  <a:srgbClr val="3F3F3F"/>
                </a:solidFill>
                <a:latin typeface="Times New Roman"/>
                <a:ea typeface="Times New Roman"/>
                <a:cs typeface="Times New Roman"/>
                <a:sym typeface="Times New Roman"/>
              </a:rPr>
              <a:t>This project can be useful for anyone involved in agricultural planning, monitoring and </a:t>
            </a:r>
            <a:endParaRPr>
              <a:solidFill>
                <a:srgbClr val="3F3F3F"/>
              </a:solidFill>
              <a:latin typeface="Times New Roman"/>
              <a:ea typeface="Times New Roman"/>
              <a:cs typeface="Times New Roman"/>
              <a:sym typeface="Times New Roman"/>
            </a:endParaRPr>
          </a:p>
          <a:p>
            <a:pPr indent="0" lvl="0" marL="0" rtl="0" algn="just">
              <a:lnSpc>
                <a:spcPct val="150000"/>
              </a:lnSpc>
              <a:spcBef>
                <a:spcPts val="0"/>
              </a:spcBef>
              <a:spcAft>
                <a:spcPts val="0"/>
              </a:spcAft>
              <a:buSzPct val="144000"/>
              <a:buNone/>
            </a:pPr>
            <a:r>
              <a:rPr lang="en-US">
                <a:solidFill>
                  <a:srgbClr val="3F3F3F"/>
                </a:solidFill>
                <a:latin typeface="Times New Roman"/>
                <a:ea typeface="Times New Roman"/>
                <a:cs typeface="Times New Roman"/>
                <a:sym typeface="Times New Roman"/>
              </a:rPr>
              <a:t>decision-making, such as :</a:t>
            </a:r>
            <a:endParaRPr>
              <a:solidFill>
                <a:srgbClr val="3F3F3F"/>
              </a:solidFill>
              <a:latin typeface="Times New Roman"/>
              <a:ea typeface="Times New Roman"/>
              <a:cs typeface="Times New Roman"/>
              <a:sym typeface="Times New Roman"/>
            </a:endParaRPr>
          </a:p>
          <a:p>
            <a:pPr indent="-346075" lvl="0" marL="457200" rtl="0" algn="l">
              <a:lnSpc>
                <a:spcPct val="115000"/>
              </a:lnSpc>
              <a:spcBef>
                <a:spcPts val="800"/>
              </a:spcBef>
              <a:spcAft>
                <a:spcPts val="0"/>
              </a:spcAft>
              <a:buClr>
                <a:srgbClr val="3F3F3F"/>
              </a:buClr>
              <a:buSzPct val="100000"/>
              <a:buFont typeface="Times New Roman"/>
              <a:buChar char="●"/>
            </a:pPr>
            <a:r>
              <a:rPr b="1" lang="en-US">
                <a:solidFill>
                  <a:srgbClr val="3F3F3F"/>
                </a:solidFill>
                <a:latin typeface="Times New Roman"/>
                <a:ea typeface="Times New Roman"/>
                <a:cs typeface="Times New Roman"/>
                <a:sym typeface="Times New Roman"/>
              </a:rPr>
              <a:t>Farmers</a:t>
            </a:r>
            <a:r>
              <a:rPr lang="en-US">
                <a:solidFill>
                  <a:srgbClr val="3F3F3F"/>
                </a:solidFill>
                <a:latin typeface="Times New Roman"/>
                <a:ea typeface="Times New Roman"/>
                <a:cs typeface="Times New Roman"/>
                <a:sym typeface="Times New Roman"/>
              </a:rPr>
              <a:t> – They plan crops, irrigation, fertilizers and resources according to </a:t>
            </a:r>
            <a:r>
              <a:rPr lang="en-US">
                <a:solidFill>
                  <a:srgbClr val="3F3F3F"/>
                </a:solidFill>
                <a:latin typeface="Times New Roman"/>
                <a:ea typeface="Times New Roman"/>
                <a:cs typeface="Times New Roman"/>
                <a:sym typeface="Times New Roman"/>
              </a:rPr>
              <a:t>seasonal</a:t>
            </a:r>
            <a:r>
              <a:rPr lang="en-US">
                <a:solidFill>
                  <a:srgbClr val="3F3F3F"/>
                </a:solidFill>
                <a:latin typeface="Times New Roman"/>
                <a:ea typeface="Times New Roman"/>
                <a:cs typeface="Times New Roman"/>
                <a:sym typeface="Times New Roman"/>
              </a:rPr>
              <a:t> conditions.</a:t>
            </a:r>
            <a:endParaRPr>
              <a:solidFill>
                <a:srgbClr val="3F3F3F"/>
              </a:solidFill>
              <a:latin typeface="Times New Roman"/>
              <a:ea typeface="Times New Roman"/>
              <a:cs typeface="Times New Roman"/>
              <a:sym typeface="Times New Roman"/>
            </a:endParaRPr>
          </a:p>
          <a:p>
            <a:pPr indent="-346075" lvl="0" marL="457200" rtl="0" algn="l">
              <a:lnSpc>
                <a:spcPct val="115000"/>
              </a:lnSpc>
              <a:spcBef>
                <a:spcPts val="0"/>
              </a:spcBef>
              <a:spcAft>
                <a:spcPts val="0"/>
              </a:spcAft>
              <a:buClr>
                <a:srgbClr val="3F3F3F"/>
              </a:buClr>
              <a:buSzPct val="100000"/>
              <a:buFont typeface="Times New Roman"/>
              <a:buChar char="●"/>
            </a:pPr>
            <a:r>
              <a:rPr b="1" lang="en-US">
                <a:solidFill>
                  <a:srgbClr val="3F3F3F"/>
                </a:solidFill>
                <a:latin typeface="Times New Roman"/>
                <a:ea typeface="Times New Roman"/>
                <a:cs typeface="Times New Roman"/>
                <a:sym typeface="Times New Roman"/>
              </a:rPr>
              <a:t>Government &amp; Agricultural Departments</a:t>
            </a:r>
            <a:r>
              <a:rPr lang="en-US">
                <a:solidFill>
                  <a:srgbClr val="3F3F3F"/>
                </a:solidFill>
                <a:latin typeface="Times New Roman"/>
                <a:ea typeface="Times New Roman"/>
                <a:cs typeface="Times New Roman"/>
                <a:sym typeface="Times New Roman"/>
              </a:rPr>
              <a:t> – Support seasonal planning, policy making and resource allocation.</a:t>
            </a:r>
            <a:endParaRPr>
              <a:solidFill>
                <a:srgbClr val="3F3F3F"/>
              </a:solidFill>
              <a:latin typeface="Times New Roman"/>
              <a:ea typeface="Times New Roman"/>
              <a:cs typeface="Times New Roman"/>
              <a:sym typeface="Times New Roman"/>
            </a:endParaRPr>
          </a:p>
          <a:p>
            <a:pPr indent="-346075" lvl="0" marL="457200" rtl="0" algn="l">
              <a:lnSpc>
                <a:spcPct val="115000"/>
              </a:lnSpc>
              <a:spcBef>
                <a:spcPts val="0"/>
              </a:spcBef>
              <a:spcAft>
                <a:spcPts val="0"/>
              </a:spcAft>
              <a:buClr>
                <a:srgbClr val="3F3F3F"/>
              </a:buClr>
              <a:buSzPct val="100000"/>
              <a:buFont typeface="Times New Roman"/>
              <a:buChar char="●"/>
            </a:pPr>
            <a:r>
              <a:rPr b="1" lang="en-US">
                <a:solidFill>
                  <a:srgbClr val="3F3F3F"/>
                </a:solidFill>
                <a:latin typeface="Times New Roman"/>
                <a:ea typeface="Times New Roman"/>
                <a:cs typeface="Times New Roman"/>
                <a:sym typeface="Times New Roman"/>
              </a:rPr>
              <a:t>Agricultural Planners &amp; Experts</a:t>
            </a:r>
            <a:r>
              <a:rPr lang="en-US">
                <a:solidFill>
                  <a:srgbClr val="3F3F3F"/>
                </a:solidFill>
                <a:latin typeface="Times New Roman"/>
                <a:ea typeface="Times New Roman"/>
                <a:cs typeface="Times New Roman"/>
                <a:sym typeface="Times New Roman"/>
              </a:rPr>
              <a:t> – Analyze crop performance and identify trends.</a:t>
            </a:r>
            <a:endParaRPr>
              <a:solidFill>
                <a:srgbClr val="3F3F3F"/>
              </a:solidFill>
              <a:latin typeface="Times New Roman"/>
              <a:ea typeface="Times New Roman"/>
              <a:cs typeface="Times New Roman"/>
              <a:sym typeface="Times New Roman"/>
            </a:endParaRPr>
          </a:p>
          <a:p>
            <a:pPr indent="-346075" lvl="0" marL="457200" rtl="0" algn="l">
              <a:lnSpc>
                <a:spcPct val="115000"/>
              </a:lnSpc>
              <a:spcBef>
                <a:spcPts val="0"/>
              </a:spcBef>
              <a:spcAft>
                <a:spcPts val="0"/>
              </a:spcAft>
              <a:buClr>
                <a:srgbClr val="3F3F3F"/>
              </a:buClr>
              <a:buSzPct val="100000"/>
              <a:buFont typeface="Times New Roman"/>
              <a:buChar char="●"/>
            </a:pPr>
            <a:r>
              <a:rPr b="1" lang="en-US">
                <a:solidFill>
                  <a:srgbClr val="3F3F3F"/>
                </a:solidFill>
                <a:latin typeface="Times New Roman"/>
                <a:ea typeface="Times New Roman"/>
                <a:cs typeface="Times New Roman"/>
                <a:sym typeface="Times New Roman"/>
              </a:rPr>
              <a:t>Irrigation &amp; Resource Managers</a:t>
            </a:r>
            <a:r>
              <a:rPr lang="en-US">
                <a:solidFill>
                  <a:srgbClr val="3F3F3F"/>
                </a:solidFill>
                <a:latin typeface="Times New Roman"/>
                <a:ea typeface="Times New Roman"/>
                <a:cs typeface="Times New Roman"/>
                <a:sym typeface="Times New Roman"/>
              </a:rPr>
              <a:t> – Improve water utilization and optimize resource efficiency.</a:t>
            </a:r>
            <a:endParaRPr>
              <a:solidFill>
                <a:srgbClr val="3F3F3F"/>
              </a:solidFill>
              <a:latin typeface="Times New Roman"/>
              <a:ea typeface="Times New Roman"/>
              <a:cs typeface="Times New Roman"/>
              <a:sym typeface="Times New Roman"/>
            </a:endParaRPr>
          </a:p>
          <a:p>
            <a:pPr indent="-346075" lvl="0" marL="457200" rtl="0" algn="l">
              <a:lnSpc>
                <a:spcPct val="115000"/>
              </a:lnSpc>
              <a:spcBef>
                <a:spcPts val="0"/>
              </a:spcBef>
              <a:spcAft>
                <a:spcPts val="0"/>
              </a:spcAft>
              <a:buClr>
                <a:srgbClr val="3F3F3F"/>
              </a:buClr>
              <a:buSzPct val="100000"/>
              <a:buFont typeface="Times New Roman"/>
              <a:buChar char="●"/>
            </a:pPr>
            <a:r>
              <a:rPr b="1" lang="en-US">
                <a:solidFill>
                  <a:srgbClr val="3F3F3F"/>
                </a:solidFill>
                <a:latin typeface="Times New Roman"/>
                <a:ea typeface="Times New Roman"/>
                <a:cs typeface="Times New Roman"/>
                <a:sym typeface="Times New Roman"/>
              </a:rPr>
              <a:t>Researchers &amp; Data Analysts</a:t>
            </a:r>
            <a:r>
              <a:rPr lang="en-US">
                <a:solidFill>
                  <a:srgbClr val="3F3F3F"/>
                </a:solidFill>
                <a:latin typeface="Times New Roman"/>
                <a:ea typeface="Times New Roman"/>
                <a:cs typeface="Times New Roman"/>
                <a:sym typeface="Times New Roman"/>
              </a:rPr>
              <a:t> – Study relationships between environmental factors and agricultural outcomes such as yield, production, and profitability..</a:t>
            </a:r>
            <a:endParaRPr>
              <a:solidFill>
                <a:srgbClr val="3F3F3F"/>
              </a:solidFill>
              <a:latin typeface="Times New Roman"/>
              <a:ea typeface="Times New Roman"/>
              <a:cs typeface="Times New Roman"/>
              <a:sym typeface="Times New Roman"/>
            </a:endParaRPr>
          </a:p>
          <a:p>
            <a:pPr indent="-346075" lvl="0" marL="457200" rtl="0" algn="l">
              <a:lnSpc>
                <a:spcPct val="115000"/>
              </a:lnSpc>
              <a:spcBef>
                <a:spcPts val="0"/>
              </a:spcBef>
              <a:spcAft>
                <a:spcPts val="0"/>
              </a:spcAft>
              <a:buClr>
                <a:srgbClr val="3F3F3F"/>
              </a:buClr>
              <a:buSzPct val="100000"/>
              <a:buFont typeface="Times New Roman"/>
              <a:buChar char="●"/>
            </a:pPr>
            <a:r>
              <a:rPr lang="en-US">
                <a:solidFill>
                  <a:srgbClr val="3F3F3F"/>
                </a:solidFill>
                <a:latin typeface="Times New Roman"/>
                <a:ea typeface="Times New Roman"/>
                <a:cs typeface="Times New Roman"/>
                <a:sym typeface="Times New Roman"/>
              </a:rPr>
              <a:t> </a:t>
            </a:r>
            <a:r>
              <a:rPr b="1" lang="en-US">
                <a:solidFill>
                  <a:srgbClr val="3F3F3F"/>
                </a:solidFill>
                <a:latin typeface="Times New Roman"/>
                <a:ea typeface="Times New Roman"/>
                <a:cs typeface="Times New Roman"/>
                <a:sym typeface="Times New Roman"/>
              </a:rPr>
              <a:t>Agribusinesses &amp; Agricultural Organizations</a:t>
            </a:r>
            <a:r>
              <a:rPr lang="en-US">
                <a:solidFill>
                  <a:srgbClr val="3F3F3F"/>
                </a:solidFill>
                <a:latin typeface="Times New Roman"/>
                <a:ea typeface="Times New Roman"/>
                <a:cs typeface="Times New Roman"/>
                <a:sym typeface="Times New Roman"/>
              </a:rPr>
              <a:t> – Understand production, profitability and market-related patterns to support better decisions.</a:t>
            </a:r>
            <a:endParaRPr>
              <a:solidFill>
                <a:srgbClr val="3F3F3F"/>
              </a:solidFill>
              <a:latin typeface="Times New Roman"/>
              <a:ea typeface="Times New Roman"/>
              <a:cs typeface="Times New Roman"/>
              <a:sym typeface="Times New Roman"/>
            </a:endParaRPr>
          </a:p>
          <a:p>
            <a:pPr indent="0" lvl="0" marL="0" rtl="0" algn="l">
              <a:lnSpc>
                <a:spcPct val="115000"/>
              </a:lnSpc>
              <a:spcBef>
                <a:spcPts val="1100"/>
              </a:spcBef>
              <a:spcAft>
                <a:spcPts val="0"/>
              </a:spcAft>
              <a:buNone/>
            </a:pPr>
            <a:r>
              <a:rPr lang="en-US">
                <a:solidFill>
                  <a:srgbClr val="3F3F3F"/>
                </a:solidFill>
                <a:latin typeface="Times New Roman"/>
                <a:ea typeface="Times New Roman"/>
                <a:cs typeface="Times New Roman"/>
                <a:sym typeface="Times New Roman"/>
              </a:rPr>
              <a:t>Overall, the projects is designed to support data-driven agriculture decision-making </a:t>
            </a:r>
            <a:endParaRPr>
              <a:solidFill>
                <a:srgbClr val="3F3F3F"/>
              </a:solidFill>
              <a:latin typeface="Times New Roman"/>
              <a:ea typeface="Times New Roman"/>
              <a:cs typeface="Times New Roman"/>
              <a:sym typeface="Times New Roman"/>
            </a:endParaRPr>
          </a:p>
          <a:p>
            <a:pPr indent="0" lvl="0" marL="0" rtl="0" algn="l">
              <a:lnSpc>
                <a:spcPct val="115000"/>
              </a:lnSpc>
              <a:spcBef>
                <a:spcPts val="1100"/>
              </a:spcBef>
              <a:spcAft>
                <a:spcPts val="0"/>
              </a:spcAft>
              <a:buNone/>
            </a:pPr>
            <a:r>
              <a:rPr lang="en-US">
                <a:solidFill>
                  <a:srgbClr val="3F3F3F"/>
                </a:solidFill>
                <a:latin typeface="Times New Roman"/>
                <a:ea typeface="Times New Roman"/>
                <a:cs typeface="Times New Roman"/>
                <a:sym typeface="Times New Roman"/>
              </a:rPr>
              <a:t>and better seasonal planning for maximizing profits and efficient resource </a:t>
            </a:r>
            <a:r>
              <a:rPr lang="en-US">
                <a:solidFill>
                  <a:srgbClr val="3F3F3F"/>
                </a:solidFill>
                <a:latin typeface="Times New Roman"/>
                <a:ea typeface="Times New Roman"/>
                <a:cs typeface="Times New Roman"/>
                <a:sym typeface="Times New Roman"/>
              </a:rPr>
              <a:t>utilization</a:t>
            </a:r>
            <a:r>
              <a:rPr lang="en-US">
                <a:solidFill>
                  <a:srgbClr val="3F3F3F"/>
                </a:solidFill>
                <a:latin typeface="Times New Roman"/>
                <a:ea typeface="Times New Roman"/>
                <a:cs typeface="Times New Roman"/>
                <a:sym typeface="Times New Roman"/>
              </a:rPr>
              <a:t>.</a:t>
            </a:r>
            <a:endParaRPr>
              <a:solidFill>
                <a:srgbClr val="3F3F3F"/>
              </a:solidFill>
              <a:latin typeface="Times New Roman"/>
              <a:ea typeface="Times New Roman"/>
              <a:cs typeface="Times New Roman"/>
              <a:sym typeface="Times New Roman"/>
            </a:endParaRPr>
          </a:p>
          <a:p>
            <a:pPr indent="0" lvl="0" marL="0" rtl="0" algn="just">
              <a:lnSpc>
                <a:spcPct val="150000"/>
              </a:lnSpc>
              <a:spcBef>
                <a:spcPts val="1100"/>
              </a:spcBef>
              <a:spcAft>
                <a:spcPts val="0"/>
              </a:spcAft>
              <a:buNone/>
            </a:pPr>
            <a:r>
              <a:t/>
            </a:r>
            <a:endParaRPr>
              <a:latin typeface="Times New Roman"/>
              <a:ea typeface="Times New Roman"/>
              <a:cs typeface="Times New Roman"/>
              <a:sym typeface="Times New Roman"/>
            </a:endParaRPr>
          </a:p>
        </p:txBody>
      </p:sp>
      <p:sp>
        <p:nvSpPr>
          <p:cNvPr id="221" name="Google Shape;221;p4"/>
          <p:cNvSpPr txBox="1"/>
          <p:nvPr>
            <p:ph type="title"/>
          </p:nvPr>
        </p:nvSpPr>
        <p:spPr>
          <a:xfrm>
            <a:off x="600758" y="398842"/>
            <a:ext cx="10046100" cy="8025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Font typeface="Trebuchet MS"/>
              <a:buNone/>
            </a:pPr>
            <a:r>
              <a:rPr lang="en-US" sz="4300">
                <a:latin typeface="Times New Roman"/>
                <a:ea typeface="Times New Roman"/>
                <a:cs typeface="Times New Roman"/>
                <a:sym typeface="Times New Roman"/>
              </a:rPr>
              <a:t>WHO ARE THE END USERS?</a:t>
            </a:r>
            <a:endParaRPr sz="3100">
              <a:latin typeface="Times New Roman"/>
              <a:ea typeface="Times New Roman"/>
              <a:cs typeface="Times New Roman"/>
              <a:sym typeface="Times New Roman"/>
            </a:endParaRPr>
          </a:p>
        </p:txBody>
      </p:sp>
      <p:pic>
        <p:nvPicPr>
          <p:cNvPr id="222" name="Google Shape;222;p4"/>
          <p:cNvPicPr preferRelativeResize="0"/>
          <p:nvPr/>
        </p:nvPicPr>
        <p:blipFill rotWithShape="1">
          <a:blip r:embed="rId3">
            <a:alphaModFix/>
          </a:blip>
          <a:srcRect b="0" l="0" r="0" t="0"/>
          <a:stretch/>
        </p:blipFill>
        <p:spPr>
          <a:xfrm>
            <a:off x="721359" y="6176804"/>
            <a:ext cx="2181225" cy="48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1"/>
                                        </p:tgtEl>
                                        <p:attrNameLst>
                                          <p:attrName>style.visibility</p:attrName>
                                        </p:attrNameLst>
                                      </p:cBhvr>
                                      <p:to>
                                        <p:strVal val="visible"/>
                                      </p:to>
                                    </p:set>
                                    <p:anim calcmode="lin" valueType="num">
                                      <p:cBhvr additive="base">
                                        <p:cTn dur="500"/>
                                        <p:tgtEl>
                                          <p:spTgt spid="221"/>
                                        </p:tgtEl>
                                        <p:attrNameLst>
                                          <p:attrName>ppt_w</p:attrName>
                                        </p:attrNameLst>
                                      </p:cBhvr>
                                      <p:tavLst>
                                        <p:tav fmla="" tm="0">
                                          <p:val>
                                            <p:strVal val="0"/>
                                          </p:val>
                                        </p:tav>
                                        <p:tav fmla="" tm="100000">
                                          <p:val>
                                            <p:strVal val="#ppt_w"/>
                                          </p:val>
                                        </p:tav>
                                      </p:tavLst>
                                    </p:anim>
                                    <p:anim calcmode="lin" valueType="num">
                                      <p:cBhvr additive="base">
                                        <p:cTn dur="500"/>
                                        <p:tgtEl>
                                          <p:spTgt spid="22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0" st="0"/>
                                            </p:txEl>
                                          </p:spTgt>
                                        </p:tgtEl>
                                        <p:attrNameLst>
                                          <p:attrName>style.visibility</p:attrName>
                                        </p:attrNameLst>
                                      </p:cBhvr>
                                      <p:to>
                                        <p:strVal val="visible"/>
                                      </p:to>
                                    </p:set>
                                    <p:animEffect filter="fade" transition="in">
                                      <p:cBhvr>
                                        <p:cTn dur="1000"/>
                                        <p:tgtEl>
                                          <p:spTgt spid="2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1" st="1"/>
                                            </p:txEl>
                                          </p:spTgt>
                                        </p:tgtEl>
                                        <p:attrNameLst>
                                          <p:attrName>style.visibility</p:attrName>
                                        </p:attrNameLst>
                                      </p:cBhvr>
                                      <p:to>
                                        <p:strVal val="visible"/>
                                      </p:to>
                                    </p:set>
                                    <p:animEffect filter="fade" transition="in">
                                      <p:cBhvr>
                                        <p:cTn dur="1000"/>
                                        <p:tgtEl>
                                          <p:spTgt spid="2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2" st="2"/>
                                            </p:txEl>
                                          </p:spTgt>
                                        </p:tgtEl>
                                        <p:attrNameLst>
                                          <p:attrName>style.visibility</p:attrName>
                                        </p:attrNameLst>
                                      </p:cBhvr>
                                      <p:to>
                                        <p:strVal val="visible"/>
                                      </p:to>
                                    </p:set>
                                    <p:animEffect filter="fade" transition="in">
                                      <p:cBhvr>
                                        <p:cTn dur="1000"/>
                                        <p:tgtEl>
                                          <p:spTgt spid="2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3" st="3"/>
                                            </p:txEl>
                                          </p:spTgt>
                                        </p:tgtEl>
                                        <p:attrNameLst>
                                          <p:attrName>style.visibility</p:attrName>
                                        </p:attrNameLst>
                                      </p:cBhvr>
                                      <p:to>
                                        <p:strVal val="visible"/>
                                      </p:to>
                                    </p:set>
                                    <p:animEffect filter="fade" transition="in">
                                      <p:cBhvr>
                                        <p:cTn dur="1000"/>
                                        <p:tgtEl>
                                          <p:spTgt spid="22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4" st="4"/>
                                            </p:txEl>
                                          </p:spTgt>
                                        </p:tgtEl>
                                        <p:attrNameLst>
                                          <p:attrName>style.visibility</p:attrName>
                                        </p:attrNameLst>
                                      </p:cBhvr>
                                      <p:to>
                                        <p:strVal val="visible"/>
                                      </p:to>
                                    </p:set>
                                    <p:animEffect filter="fade" transition="in">
                                      <p:cBhvr>
                                        <p:cTn dur="1000"/>
                                        <p:tgtEl>
                                          <p:spTgt spid="22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5" st="5"/>
                                            </p:txEl>
                                          </p:spTgt>
                                        </p:tgtEl>
                                        <p:attrNameLst>
                                          <p:attrName>style.visibility</p:attrName>
                                        </p:attrNameLst>
                                      </p:cBhvr>
                                      <p:to>
                                        <p:strVal val="visible"/>
                                      </p:to>
                                    </p:set>
                                    <p:animEffect filter="fade" transition="in">
                                      <p:cBhvr>
                                        <p:cTn dur="1000"/>
                                        <p:tgtEl>
                                          <p:spTgt spid="22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6" st="6"/>
                                            </p:txEl>
                                          </p:spTgt>
                                        </p:tgtEl>
                                        <p:attrNameLst>
                                          <p:attrName>style.visibility</p:attrName>
                                        </p:attrNameLst>
                                      </p:cBhvr>
                                      <p:to>
                                        <p:strVal val="visible"/>
                                      </p:to>
                                    </p:set>
                                    <p:animEffect filter="fade" transition="in">
                                      <p:cBhvr>
                                        <p:cTn dur="1000"/>
                                        <p:tgtEl>
                                          <p:spTgt spid="22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7" st="7"/>
                                            </p:txEl>
                                          </p:spTgt>
                                        </p:tgtEl>
                                        <p:attrNameLst>
                                          <p:attrName>style.visibility</p:attrName>
                                        </p:attrNameLst>
                                      </p:cBhvr>
                                      <p:to>
                                        <p:strVal val="visible"/>
                                      </p:to>
                                    </p:set>
                                    <p:animEffect filter="fade" transition="in">
                                      <p:cBhvr>
                                        <p:cTn dur="1000"/>
                                        <p:tgtEl>
                                          <p:spTgt spid="22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8" st="8"/>
                                            </p:txEl>
                                          </p:spTgt>
                                        </p:tgtEl>
                                        <p:attrNameLst>
                                          <p:attrName>style.visibility</p:attrName>
                                        </p:attrNameLst>
                                      </p:cBhvr>
                                      <p:to>
                                        <p:strVal val="visible"/>
                                      </p:to>
                                    </p:set>
                                    <p:animEffect filter="fade" transition="in">
                                      <p:cBhvr>
                                        <p:cTn dur="1000"/>
                                        <p:tgtEl>
                                          <p:spTgt spid="22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9" st="9"/>
                                            </p:txEl>
                                          </p:spTgt>
                                        </p:tgtEl>
                                        <p:attrNameLst>
                                          <p:attrName>style.visibility</p:attrName>
                                        </p:attrNameLst>
                                      </p:cBhvr>
                                      <p:to>
                                        <p:strVal val="visible"/>
                                      </p:to>
                                    </p:set>
                                    <p:animEffect filter="fade" transition="in">
                                      <p:cBhvr>
                                        <p:cTn dur="1000"/>
                                        <p:tgtEl>
                                          <p:spTgt spid="22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10" st="10"/>
                                            </p:txEl>
                                          </p:spTgt>
                                        </p:tgtEl>
                                        <p:attrNameLst>
                                          <p:attrName>style.visibility</p:attrName>
                                        </p:attrNameLst>
                                      </p:cBhvr>
                                      <p:to>
                                        <p:strVal val="visible"/>
                                      </p:to>
                                    </p:set>
                                    <p:animEffect filter="fade" transition="in">
                                      <p:cBhvr>
                                        <p:cTn dur="1000"/>
                                        <p:tgtEl>
                                          <p:spTgt spid="220">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27" name="Shape 227"/>
        <p:cNvGrpSpPr/>
        <p:nvPr/>
      </p:nvGrpSpPr>
      <p:grpSpPr>
        <a:xfrm>
          <a:off x="0" y="0"/>
          <a:ext cx="0" cy="0"/>
          <a:chOff x="0" y="0"/>
          <a:chExt cx="0" cy="0"/>
        </a:xfrm>
      </p:grpSpPr>
      <p:pic>
        <p:nvPicPr>
          <p:cNvPr id="228" name="Google Shape;228;p5"/>
          <p:cNvPicPr preferRelativeResize="0"/>
          <p:nvPr/>
        </p:nvPicPr>
        <p:blipFill rotWithShape="1">
          <a:blip r:embed="rId3">
            <a:alphaModFix/>
          </a:blip>
          <a:srcRect b="0" l="0" r="0" t="0"/>
          <a:stretch/>
        </p:blipFill>
        <p:spPr>
          <a:xfrm>
            <a:off x="467359" y="6410461"/>
            <a:ext cx="3706253" cy="296092"/>
          </a:xfrm>
          <a:prstGeom prst="rect">
            <a:avLst/>
          </a:prstGeom>
          <a:noFill/>
          <a:ln>
            <a:noFill/>
          </a:ln>
        </p:spPr>
      </p:pic>
      <p:pic>
        <p:nvPicPr>
          <p:cNvPr id="229" name="Google Shape;229;p5"/>
          <p:cNvPicPr preferRelativeResize="0"/>
          <p:nvPr/>
        </p:nvPicPr>
        <p:blipFill rotWithShape="1">
          <a:blip r:embed="rId4">
            <a:alphaModFix/>
          </a:blip>
          <a:srcRect b="0" l="0" r="0" t="0"/>
          <a:stretch/>
        </p:blipFill>
        <p:spPr>
          <a:xfrm flipH="1">
            <a:off x="50800" y="3820160"/>
            <a:ext cx="1727200" cy="3010024"/>
          </a:xfrm>
          <a:prstGeom prst="rect">
            <a:avLst/>
          </a:prstGeom>
          <a:noFill/>
          <a:ln>
            <a:noFill/>
          </a:ln>
        </p:spPr>
      </p:pic>
      <p:sp>
        <p:nvSpPr>
          <p:cNvPr id="230" name="Google Shape;230;p5"/>
          <p:cNvSpPr txBox="1"/>
          <p:nvPr>
            <p:ph idx="1" type="body"/>
          </p:nvPr>
        </p:nvSpPr>
        <p:spPr>
          <a:xfrm>
            <a:off x="1616850" y="739025"/>
            <a:ext cx="10222500" cy="6091200"/>
          </a:xfrm>
          <a:prstGeom prst="rect">
            <a:avLst/>
          </a:prstGeom>
          <a:noFill/>
          <a:ln>
            <a:noFill/>
          </a:ln>
        </p:spPr>
        <p:txBody>
          <a:bodyPr anchorCtr="0" anchor="t" bIns="45700" lIns="91425" spcFirstLastPara="1" rIns="91425" wrap="square" tIns="45700">
            <a:normAutofit/>
          </a:bodyPr>
          <a:lstStyle/>
          <a:p>
            <a:pPr indent="-615950" lvl="0" marL="457200" rtl="0" algn="l">
              <a:spcBef>
                <a:spcPts val="0"/>
              </a:spcBef>
              <a:spcAft>
                <a:spcPts val="0"/>
              </a:spcAft>
              <a:buSzPts val="6100"/>
              <a:buFont typeface="Times New Roman"/>
              <a:buChar char="●"/>
            </a:pPr>
            <a:r>
              <a:t/>
            </a:r>
            <a:endParaRPr sz="6100">
              <a:latin typeface="Times New Roman"/>
              <a:ea typeface="Times New Roman"/>
              <a:cs typeface="Times New Roman"/>
              <a:sym typeface="Times New Roman"/>
            </a:endParaRPr>
          </a:p>
          <a:p>
            <a:pPr indent="0" lvl="0" marL="457200" rtl="0" algn="l">
              <a:spcBef>
                <a:spcPts val="0"/>
              </a:spcBef>
              <a:spcAft>
                <a:spcPts val="0"/>
              </a:spcAft>
              <a:buNone/>
            </a:pPr>
            <a:r>
              <a:t/>
            </a:r>
            <a:endParaRPr sz="3376">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a:latin typeface="Times New Roman"/>
              <a:ea typeface="Times New Roman"/>
              <a:cs typeface="Times New Roman"/>
              <a:sym typeface="Times New Roman"/>
            </a:endParaRPr>
          </a:p>
        </p:txBody>
      </p:sp>
      <p:sp>
        <p:nvSpPr>
          <p:cNvPr id="231" name="Google Shape;231;p5"/>
          <p:cNvSpPr txBox="1"/>
          <p:nvPr>
            <p:ph type="title"/>
          </p:nvPr>
        </p:nvSpPr>
        <p:spPr>
          <a:xfrm>
            <a:off x="547849" y="-8"/>
            <a:ext cx="5306400" cy="8478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11628"/>
              <a:buFont typeface="Trebuchet MS"/>
              <a:buNone/>
            </a:pPr>
            <a:r>
              <a:rPr lang="en-US" sz="4300">
                <a:latin typeface="Times New Roman"/>
                <a:ea typeface="Times New Roman"/>
                <a:cs typeface="Times New Roman"/>
                <a:sym typeface="Times New Roman"/>
              </a:rPr>
              <a:t>TECHNOLOGY USED</a:t>
            </a:r>
            <a:endParaRPr sz="4300">
              <a:latin typeface="Times New Roman"/>
              <a:ea typeface="Times New Roman"/>
              <a:cs typeface="Times New Roman"/>
              <a:sym typeface="Times New Roman"/>
            </a:endParaRPr>
          </a:p>
        </p:txBody>
      </p:sp>
      <p:pic>
        <p:nvPicPr>
          <p:cNvPr id="232" name="Google Shape;232;p5"/>
          <p:cNvPicPr preferRelativeResize="0"/>
          <p:nvPr/>
        </p:nvPicPr>
        <p:blipFill>
          <a:blip r:embed="rId5">
            <a:alphaModFix/>
          </a:blip>
          <a:stretch>
            <a:fillRect/>
          </a:stretch>
        </p:blipFill>
        <p:spPr>
          <a:xfrm>
            <a:off x="1554300" y="663600"/>
            <a:ext cx="10154850" cy="5854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1"/>
                                        </p:tgtEl>
                                        <p:attrNameLst>
                                          <p:attrName>style.visibility</p:attrName>
                                        </p:attrNameLst>
                                      </p:cBhvr>
                                      <p:to>
                                        <p:strVal val="visible"/>
                                      </p:to>
                                    </p:set>
                                    <p:anim calcmode="lin" valueType="num">
                                      <p:cBhvr additive="base">
                                        <p:cTn dur="500"/>
                                        <p:tgtEl>
                                          <p:spTgt spid="231"/>
                                        </p:tgtEl>
                                        <p:attrNameLst>
                                          <p:attrName>ppt_w</p:attrName>
                                        </p:attrNameLst>
                                      </p:cBhvr>
                                      <p:tavLst>
                                        <p:tav fmla="" tm="0">
                                          <p:val>
                                            <p:strVal val="0"/>
                                          </p:val>
                                        </p:tav>
                                        <p:tav fmla="" tm="100000">
                                          <p:val>
                                            <p:strVal val="#ppt_w"/>
                                          </p:val>
                                        </p:tav>
                                      </p:tavLst>
                                    </p:anim>
                                    <p:anim calcmode="lin" valueType="num">
                                      <p:cBhvr additive="base">
                                        <p:cTn dur="500"/>
                                        <p:tgtEl>
                                          <p:spTgt spid="23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0" st="0"/>
                                            </p:txEl>
                                          </p:spTgt>
                                        </p:tgtEl>
                                        <p:attrNameLst>
                                          <p:attrName>style.visibility</p:attrName>
                                        </p:attrNameLst>
                                      </p:cBhvr>
                                      <p:to>
                                        <p:strVal val="visible"/>
                                      </p:to>
                                    </p:set>
                                    <p:animEffect filter="fade" transition="in">
                                      <p:cBhvr>
                                        <p:cTn dur="1000"/>
                                        <p:tgtEl>
                                          <p:spTgt spid="2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1" st="1"/>
                                            </p:txEl>
                                          </p:spTgt>
                                        </p:tgtEl>
                                        <p:attrNameLst>
                                          <p:attrName>style.visibility</p:attrName>
                                        </p:attrNameLst>
                                      </p:cBhvr>
                                      <p:to>
                                        <p:strVal val="visible"/>
                                      </p:to>
                                    </p:set>
                                    <p:animEffect filter="fade" transition="in">
                                      <p:cBhvr>
                                        <p:cTn dur="1000"/>
                                        <p:tgtEl>
                                          <p:spTgt spid="2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2" st="2"/>
                                            </p:txEl>
                                          </p:spTgt>
                                        </p:tgtEl>
                                        <p:attrNameLst>
                                          <p:attrName>style.visibility</p:attrName>
                                        </p:attrNameLst>
                                      </p:cBhvr>
                                      <p:to>
                                        <p:strVal val="visible"/>
                                      </p:to>
                                    </p:set>
                                    <p:animEffect filter="fade" transition="in">
                                      <p:cBhvr>
                                        <p:cTn dur="1000"/>
                                        <p:tgtEl>
                                          <p:spTgt spid="2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3" st="3"/>
                                            </p:txEl>
                                          </p:spTgt>
                                        </p:tgtEl>
                                        <p:attrNameLst>
                                          <p:attrName>style.visibility</p:attrName>
                                        </p:attrNameLst>
                                      </p:cBhvr>
                                      <p:to>
                                        <p:strVal val="visible"/>
                                      </p:to>
                                    </p:set>
                                    <p:animEffect filter="fade" transition="in">
                                      <p:cBhvr>
                                        <p:cTn dur="1000"/>
                                        <p:tgtEl>
                                          <p:spTgt spid="2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4" st="4"/>
                                            </p:txEl>
                                          </p:spTgt>
                                        </p:tgtEl>
                                        <p:attrNameLst>
                                          <p:attrName>style.visibility</p:attrName>
                                        </p:attrNameLst>
                                      </p:cBhvr>
                                      <p:to>
                                        <p:strVal val="visible"/>
                                      </p:to>
                                    </p:set>
                                    <p:animEffect filter="fade" transition="in">
                                      <p:cBhvr>
                                        <p:cTn dur="1000"/>
                                        <p:tgtEl>
                                          <p:spTgt spid="2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5" st="5"/>
                                            </p:txEl>
                                          </p:spTgt>
                                        </p:tgtEl>
                                        <p:attrNameLst>
                                          <p:attrName>style.visibility</p:attrName>
                                        </p:attrNameLst>
                                      </p:cBhvr>
                                      <p:to>
                                        <p:strVal val="visible"/>
                                      </p:to>
                                    </p:set>
                                    <p:animEffect filter="fade" transition="in">
                                      <p:cBhvr>
                                        <p:cTn dur="1000"/>
                                        <p:tgtEl>
                                          <p:spTgt spid="23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37" name="Shape 237"/>
        <p:cNvGrpSpPr/>
        <p:nvPr/>
      </p:nvGrpSpPr>
      <p:grpSpPr>
        <a:xfrm>
          <a:off x="0" y="0"/>
          <a:ext cx="0" cy="0"/>
          <a:chOff x="0" y="0"/>
          <a:chExt cx="0" cy="0"/>
        </a:xfrm>
      </p:grpSpPr>
      <p:pic>
        <p:nvPicPr>
          <p:cNvPr id="238" name="Google Shape;238;g3fa44e46628_1_73"/>
          <p:cNvPicPr preferRelativeResize="0"/>
          <p:nvPr/>
        </p:nvPicPr>
        <p:blipFill rotWithShape="1">
          <a:blip r:embed="rId3">
            <a:alphaModFix/>
          </a:blip>
          <a:srcRect b="0" l="0" r="0" t="0"/>
          <a:stretch/>
        </p:blipFill>
        <p:spPr>
          <a:xfrm>
            <a:off x="467359" y="6410461"/>
            <a:ext cx="3706253" cy="296092"/>
          </a:xfrm>
          <a:prstGeom prst="rect">
            <a:avLst/>
          </a:prstGeom>
          <a:noFill/>
          <a:ln>
            <a:noFill/>
          </a:ln>
        </p:spPr>
      </p:pic>
      <p:pic>
        <p:nvPicPr>
          <p:cNvPr id="239" name="Google Shape;239;g3fa44e46628_1_73"/>
          <p:cNvPicPr preferRelativeResize="0"/>
          <p:nvPr/>
        </p:nvPicPr>
        <p:blipFill rotWithShape="1">
          <a:blip r:embed="rId4">
            <a:alphaModFix/>
          </a:blip>
          <a:srcRect b="0" l="0" r="0" t="0"/>
          <a:stretch/>
        </p:blipFill>
        <p:spPr>
          <a:xfrm flipH="1">
            <a:off x="50800" y="3820160"/>
            <a:ext cx="1727200" cy="3010025"/>
          </a:xfrm>
          <a:prstGeom prst="rect">
            <a:avLst/>
          </a:prstGeom>
          <a:noFill/>
          <a:ln>
            <a:noFill/>
          </a:ln>
        </p:spPr>
      </p:pic>
      <p:sp>
        <p:nvSpPr>
          <p:cNvPr id="240" name="Google Shape;240;g3fa44e46628_1_73"/>
          <p:cNvSpPr txBox="1"/>
          <p:nvPr>
            <p:ph idx="1" type="body"/>
          </p:nvPr>
        </p:nvSpPr>
        <p:spPr>
          <a:xfrm>
            <a:off x="1616850" y="739025"/>
            <a:ext cx="10222500" cy="6091200"/>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50000"/>
              </a:lnSpc>
              <a:spcBef>
                <a:spcPts val="0"/>
              </a:spcBef>
              <a:spcAft>
                <a:spcPts val="0"/>
              </a:spcAft>
              <a:buNone/>
            </a:pPr>
            <a:r>
              <a:t/>
            </a:r>
            <a:endParaRPr sz="6900">
              <a:latin typeface="Times New Roman"/>
              <a:ea typeface="Times New Roman"/>
              <a:cs typeface="Times New Roman"/>
              <a:sym typeface="Times New Roman"/>
            </a:endParaRPr>
          </a:p>
          <a:p>
            <a:pPr indent="0" lvl="0" marL="0" rtl="0" algn="l">
              <a:spcBef>
                <a:spcPts val="0"/>
              </a:spcBef>
              <a:spcAft>
                <a:spcPts val="0"/>
              </a:spcAft>
              <a:buNone/>
            </a:pPr>
            <a:r>
              <a:t/>
            </a:r>
            <a:endParaRPr b="1" sz="6900" u="sng">
              <a:latin typeface="Times New Roman"/>
              <a:ea typeface="Times New Roman"/>
              <a:cs typeface="Times New Roman"/>
              <a:sym typeface="Times New Roman"/>
            </a:endParaRPr>
          </a:p>
          <a:p>
            <a:pPr indent="0" lvl="0" marL="0" rtl="0" algn="l">
              <a:spcBef>
                <a:spcPts val="0"/>
              </a:spcBef>
              <a:spcAft>
                <a:spcPts val="0"/>
              </a:spcAft>
              <a:buNone/>
            </a:pPr>
            <a:r>
              <a:t/>
            </a:r>
            <a:endParaRPr b="1" sz="6900" u="sng">
              <a:latin typeface="Times New Roman"/>
              <a:ea typeface="Times New Roman"/>
              <a:cs typeface="Times New Roman"/>
              <a:sym typeface="Times New Roman"/>
            </a:endParaRPr>
          </a:p>
          <a:p>
            <a:pPr indent="0" lvl="0" marL="0" rtl="0" algn="l">
              <a:spcBef>
                <a:spcPts val="0"/>
              </a:spcBef>
              <a:spcAft>
                <a:spcPts val="0"/>
              </a:spcAft>
              <a:buNone/>
            </a:pPr>
            <a:r>
              <a:t/>
            </a:r>
            <a:endParaRPr b="1" sz="6900" u="sng">
              <a:latin typeface="Times New Roman"/>
              <a:ea typeface="Times New Roman"/>
              <a:cs typeface="Times New Roman"/>
              <a:sym typeface="Times New Roman"/>
            </a:endParaRPr>
          </a:p>
          <a:p>
            <a:pPr indent="0" lvl="0" marL="0" rtl="0" algn="l">
              <a:spcBef>
                <a:spcPts val="0"/>
              </a:spcBef>
              <a:spcAft>
                <a:spcPts val="0"/>
              </a:spcAft>
              <a:buNone/>
            </a:pPr>
            <a:r>
              <a:t/>
            </a:r>
            <a:endParaRPr b="1" sz="6900" u="sng">
              <a:latin typeface="Times New Roman"/>
              <a:ea typeface="Times New Roman"/>
              <a:cs typeface="Times New Roman"/>
              <a:sym typeface="Times New Roman"/>
            </a:endParaRPr>
          </a:p>
          <a:p>
            <a:pPr indent="0" lvl="0" marL="0" rtl="0" algn="l">
              <a:spcBef>
                <a:spcPts val="0"/>
              </a:spcBef>
              <a:spcAft>
                <a:spcPts val="0"/>
              </a:spcAft>
              <a:buNone/>
            </a:pPr>
            <a:r>
              <a:t/>
            </a:r>
            <a:endParaRPr b="1" sz="6900" u="sng">
              <a:latin typeface="Times New Roman"/>
              <a:ea typeface="Times New Roman"/>
              <a:cs typeface="Times New Roman"/>
              <a:sym typeface="Times New Roman"/>
            </a:endParaRPr>
          </a:p>
          <a:p>
            <a:pPr indent="0" lvl="0" marL="0" rtl="0" algn="l">
              <a:spcBef>
                <a:spcPts val="0"/>
              </a:spcBef>
              <a:spcAft>
                <a:spcPts val="0"/>
              </a:spcAft>
              <a:buNone/>
            </a:pPr>
            <a:r>
              <a:t/>
            </a:r>
            <a:endParaRPr b="1" sz="6900" u="sng">
              <a:latin typeface="Times New Roman"/>
              <a:ea typeface="Times New Roman"/>
              <a:cs typeface="Times New Roman"/>
              <a:sym typeface="Times New Roman"/>
            </a:endParaRPr>
          </a:p>
          <a:p>
            <a:pPr indent="0" lvl="0" marL="0" rtl="0" algn="l">
              <a:spcBef>
                <a:spcPts val="0"/>
              </a:spcBef>
              <a:spcAft>
                <a:spcPts val="0"/>
              </a:spcAft>
              <a:buNone/>
            </a:pPr>
            <a:r>
              <a:t/>
            </a:r>
            <a:endParaRPr b="1" sz="6900" u="sng">
              <a:latin typeface="Times New Roman"/>
              <a:ea typeface="Times New Roman"/>
              <a:cs typeface="Times New Roman"/>
              <a:sym typeface="Times New Roman"/>
            </a:endParaRPr>
          </a:p>
          <a:p>
            <a:pPr indent="-383540" lvl="0" marL="457200" rtl="0" algn="l">
              <a:spcBef>
                <a:spcPts val="0"/>
              </a:spcBef>
              <a:spcAft>
                <a:spcPts val="0"/>
              </a:spcAft>
              <a:buSzPct val="100000"/>
              <a:buFont typeface="Times New Roman"/>
              <a:buChar char="●"/>
            </a:pPr>
            <a:r>
              <a:t/>
            </a:r>
            <a:endParaRPr sz="6100">
              <a:latin typeface="Times New Roman"/>
              <a:ea typeface="Times New Roman"/>
              <a:cs typeface="Times New Roman"/>
              <a:sym typeface="Times New Roman"/>
            </a:endParaRPr>
          </a:p>
          <a:p>
            <a:pPr indent="0" lvl="0" marL="457200" rtl="0" algn="l">
              <a:spcBef>
                <a:spcPts val="0"/>
              </a:spcBef>
              <a:spcAft>
                <a:spcPts val="0"/>
              </a:spcAft>
              <a:buNone/>
            </a:pPr>
            <a:r>
              <a:t/>
            </a:r>
            <a:endParaRPr sz="3376">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a:latin typeface="Times New Roman"/>
              <a:ea typeface="Times New Roman"/>
              <a:cs typeface="Times New Roman"/>
              <a:sym typeface="Times New Roman"/>
            </a:endParaRPr>
          </a:p>
        </p:txBody>
      </p:sp>
      <p:sp>
        <p:nvSpPr>
          <p:cNvPr id="241" name="Google Shape;241;g3fa44e46628_1_73"/>
          <p:cNvSpPr txBox="1"/>
          <p:nvPr>
            <p:ph type="title"/>
          </p:nvPr>
        </p:nvSpPr>
        <p:spPr>
          <a:xfrm>
            <a:off x="547849" y="-8"/>
            <a:ext cx="5306400" cy="8478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11628"/>
              <a:buFont typeface="Trebuchet MS"/>
              <a:buNone/>
            </a:pPr>
            <a:r>
              <a:rPr lang="en-US" sz="4300">
                <a:latin typeface="Times New Roman"/>
                <a:ea typeface="Times New Roman"/>
                <a:cs typeface="Times New Roman"/>
                <a:sym typeface="Times New Roman"/>
              </a:rPr>
              <a:t>TECHNOLOGY USED</a:t>
            </a:r>
            <a:endParaRPr sz="4300">
              <a:latin typeface="Times New Roman"/>
              <a:ea typeface="Times New Roman"/>
              <a:cs typeface="Times New Roman"/>
              <a:sym typeface="Times New Roman"/>
            </a:endParaRPr>
          </a:p>
        </p:txBody>
      </p:sp>
      <p:pic>
        <p:nvPicPr>
          <p:cNvPr id="242" name="Google Shape;242;g3fa44e46628_1_73"/>
          <p:cNvPicPr preferRelativeResize="0"/>
          <p:nvPr/>
        </p:nvPicPr>
        <p:blipFill>
          <a:blip r:embed="rId5">
            <a:alphaModFix/>
          </a:blip>
          <a:stretch>
            <a:fillRect/>
          </a:stretch>
        </p:blipFill>
        <p:spPr>
          <a:xfrm>
            <a:off x="1705075" y="633400"/>
            <a:ext cx="9988977" cy="59675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1"/>
                                        </p:tgtEl>
                                        <p:attrNameLst>
                                          <p:attrName>style.visibility</p:attrName>
                                        </p:attrNameLst>
                                      </p:cBhvr>
                                      <p:to>
                                        <p:strVal val="visible"/>
                                      </p:to>
                                    </p:set>
                                    <p:anim calcmode="lin" valueType="num">
                                      <p:cBhvr additive="base">
                                        <p:cTn dur="500"/>
                                        <p:tgtEl>
                                          <p:spTgt spid="241"/>
                                        </p:tgtEl>
                                        <p:attrNameLst>
                                          <p:attrName>ppt_w</p:attrName>
                                        </p:attrNameLst>
                                      </p:cBhvr>
                                      <p:tavLst>
                                        <p:tav fmla="" tm="0">
                                          <p:val>
                                            <p:strVal val="0"/>
                                          </p:val>
                                        </p:tav>
                                        <p:tav fmla="" tm="100000">
                                          <p:val>
                                            <p:strVal val="#ppt_w"/>
                                          </p:val>
                                        </p:tav>
                                      </p:tavLst>
                                    </p:anim>
                                    <p:anim calcmode="lin" valueType="num">
                                      <p:cBhvr additive="base">
                                        <p:cTn dur="500"/>
                                        <p:tgtEl>
                                          <p:spTgt spid="24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0" st="0"/>
                                            </p:txEl>
                                          </p:spTgt>
                                        </p:tgtEl>
                                        <p:attrNameLst>
                                          <p:attrName>style.visibility</p:attrName>
                                        </p:attrNameLst>
                                      </p:cBhvr>
                                      <p:to>
                                        <p:strVal val="visible"/>
                                      </p:to>
                                    </p:set>
                                    <p:animEffect filter="fade" transition="in">
                                      <p:cBhvr>
                                        <p:cTn dur="1000"/>
                                        <p:tgtEl>
                                          <p:spTgt spid="2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1" st="1"/>
                                            </p:txEl>
                                          </p:spTgt>
                                        </p:tgtEl>
                                        <p:attrNameLst>
                                          <p:attrName>style.visibility</p:attrName>
                                        </p:attrNameLst>
                                      </p:cBhvr>
                                      <p:to>
                                        <p:strVal val="visible"/>
                                      </p:to>
                                    </p:set>
                                    <p:animEffect filter="fade" transition="in">
                                      <p:cBhvr>
                                        <p:cTn dur="1000"/>
                                        <p:tgtEl>
                                          <p:spTgt spid="2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2" st="2"/>
                                            </p:txEl>
                                          </p:spTgt>
                                        </p:tgtEl>
                                        <p:attrNameLst>
                                          <p:attrName>style.visibility</p:attrName>
                                        </p:attrNameLst>
                                      </p:cBhvr>
                                      <p:to>
                                        <p:strVal val="visible"/>
                                      </p:to>
                                    </p:set>
                                    <p:animEffect filter="fade" transition="in">
                                      <p:cBhvr>
                                        <p:cTn dur="1000"/>
                                        <p:tgtEl>
                                          <p:spTgt spid="2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3" st="3"/>
                                            </p:txEl>
                                          </p:spTgt>
                                        </p:tgtEl>
                                        <p:attrNameLst>
                                          <p:attrName>style.visibility</p:attrName>
                                        </p:attrNameLst>
                                      </p:cBhvr>
                                      <p:to>
                                        <p:strVal val="visible"/>
                                      </p:to>
                                    </p:set>
                                    <p:animEffect filter="fade" transition="in">
                                      <p:cBhvr>
                                        <p:cTn dur="1000"/>
                                        <p:tgtEl>
                                          <p:spTgt spid="24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4" st="4"/>
                                            </p:txEl>
                                          </p:spTgt>
                                        </p:tgtEl>
                                        <p:attrNameLst>
                                          <p:attrName>style.visibility</p:attrName>
                                        </p:attrNameLst>
                                      </p:cBhvr>
                                      <p:to>
                                        <p:strVal val="visible"/>
                                      </p:to>
                                    </p:set>
                                    <p:animEffect filter="fade" transition="in">
                                      <p:cBhvr>
                                        <p:cTn dur="1000"/>
                                        <p:tgtEl>
                                          <p:spTgt spid="24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5" st="5"/>
                                            </p:txEl>
                                          </p:spTgt>
                                        </p:tgtEl>
                                        <p:attrNameLst>
                                          <p:attrName>style.visibility</p:attrName>
                                        </p:attrNameLst>
                                      </p:cBhvr>
                                      <p:to>
                                        <p:strVal val="visible"/>
                                      </p:to>
                                    </p:set>
                                    <p:animEffect filter="fade" transition="in">
                                      <p:cBhvr>
                                        <p:cTn dur="1000"/>
                                        <p:tgtEl>
                                          <p:spTgt spid="24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6" st="6"/>
                                            </p:txEl>
                                          </p:spTgt>
                                        </p:tgtEl>
                                        <p:attrNameLst>
                                          <p:attrName>style.visibility</p:attrName>
                                        </p:attrNameLst>
                                      </p:cBhvr>
                                      <p:to>
                                        <p:strVal val="visible"/>
                                      </p:to>
                                    </p:set>
                                    <p:animEffect filter="fade" transition="in">
                                      <p:cBhvr>
                                        <p:cTn dur="1000"/>
                                        <p:tgtEl>
                                          <p:spTgt spid="24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7" st="7"/>
                                            </p:txEl>
                                          </p:spTgt>
                                        </p:tgtEl>
                                        <p:attrNameLst>
                                          <p:attrName>style.visibility</p:attrName>
                                        </p:attrNameLst>
                                      </p:cBhvr>
                                      <p:to>
                                        <p:strVal val="visible"/>
                                      </p:to>
                                    </p:set>
                                    <p:animEffect filter="fade" transition="in">
                                      <p:cBhvr>
                                        <p:cTn dur="1000"/>
                                        <p:tgtEl>
                                          <p:spTgt spid="24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8" st="8"/>
                                            </p:txEl>
                                          </p:spTgt>
                                        </p:tgtEl>
                                        <p:attrNameLst>
                                          <p:attrName>style.visibility</p:attrName>
                                        </p:attrNameLst>
                                      </p:cBhvr>
                                      <p:to>
                                        <p:strVal val="visible"/>
                                      </p:to>
                                    </p:set>
                                    <p:animEffect filter="fade" transition="in">
                                      <p:cBhvr>
                                        <p:cTn dur="1000"/>
                                        <p:tgtEl>
                                          <p:spTgt spid="24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9" st="9"/>
                                            </p:txEl>
                                          </p:spTgt>
                                        </p:tgtEl>
                                        <p:attrNameLst>
                                          <p:attrName>style.visibility</p:attrName>
                                        </p:attrNameLst>
                                      </p:cBhvr>
                                      <p:to>
                                        <p:strVal val="visible"/>
                                      </p:to>
                                    </p:set>
                                    <p:animEffect filter="fade" transition="in">
                                      <p:cBhvr>
                                        <p:cTn dur="1000"/>
                                        <p:tgtEl>
                                          <p:spTgt spid="24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10" st="10"/>
                                            </p:txEl>
                                          </p:spTgt>
                                        </p:tgtEl>
                                        <p:attrNameLst>
                                          <p:attrName>style.visibility</p:attrName>
                                        </p:attrNameLst>
                                      </p:cBhvr>
                                      <p:to>
                                        <p:strVal val="visible"/>
                                      </p:to>
                                    </p:set>
                                    <p:animEffect filter="fade" transition="in">
                                      <p:cBhvr>
                                        <p:cTn dur="1000"/>
                                        <p:tgtEl>
                                          <p:spTgt spid="24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11" st="11"/>
                                            </p:txEl>
                                          </p:spTgt>
                                        </p:tgtEl>
                                        <p:attrNameLst>
                                          <p:attrName>style.visibility</p:attrName>
                                        </p:attrNameLst>
                                      </p:cBhvr>
                                      <p:to>
                                        <p:strVal val="visible"/>
                                      </p:to>
                                    </p:set>
                                    <p:animEffect filter="fade" transition="in">
                                      <p:cBhvr>
                                        <p:cTn dur="1000"/>
                                        <p:tgtEl>
                                          <p:spTgt spid="24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12" st="12"/>
                                            </p:txEl>
                                          </p:spTgt>
                                        </p:tgtEl>
                                        <p:attrNameLst>
                                          <p:attrName>style.visibility</p:attrName>
                                        </p:attrNameLst>
                                      </p:cBhvr>
                                      <p:to>
                                        <p:strVal val="visible"/>
                                      </p:to>
                                    </p:set>
                                    <p:animEffect filter="fade" transition="in">
                                      <p:cBhvr>
                                        <p:cTn dur="1000"/>
                                        <p:tgtEl>
                                          <p:spTgt spid="240">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13" st="13"/>
                                            </p:txEl>
                                          </p:spTgt>
                                        </p:tgtEl>
                                        <p:attrNameLst>
                                          <p:attrName>style.visibility</p:attrName>
                                        </p:attrNameLst>
                                      </p:cBhvr>
                                      <p:to>
                                        <p:strVal val="visible"/>
                                      </p:to>
                                    </p:set>
                                    <p:animEffect filter="fade" transition="in">
                                      <p:cBhvr>
                                        <p:cTn dur="1000"/>
                                        <p:tgtEl>
                                          <p:spTgt spid="240">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6"/>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48" name="Google Shape;248;p6"/>
          <p:cNvSpPr txBox="1"/>
          <p:nvPr>
            <p:ph type="title"/>
          </p:nvPr>
        </p:nvSpPr>
        <p:spPr>
          <a:xfrm>
            <a:off x="647709" y="0"/>
            <a:ext cx="96540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sz="4300">
                <a:latin typeface="Times New Roman"/>
                <a:ea typeface="Times New Roman"/>
                <a:cs typeface="Times New Roman"/>
                <a:sym typeface="Times New Roman"/>
              </a:rPr>
              <a:t>RESULTS: BAR GRAPHS</a:t>
            </a:r>
            <a:endParaRPr sz="4300">
              <a:latin typeface="Times New Roman"/>
              <a:ea typeface="Times New Roman"/>
              <a:cs typeface="Times New Roman"/>
              <a:sym typeface="Times New Roman"/>
            </a:endParaRPr>
          </a:p>
        </p:txBody>
      </p:sp>
      <p:sp>
        <p:nvSpPr>
          <p:cNvPr id="249" name="Google Shape;249;p6"/>
          <p:cNvSpPr txBox="1"/>
          <p:nvPr/>
        </p:nvSpPr>
        <p:spPr>
          <a:xfrm>
            <a:off x="320982"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50" name="Google Shape;250;p6"/>
          <p:cNvSpPr txBox="1"/>
          <p:nvPr/>
        </p:nvSpPr>
        <p:spPr>
          <a:xfrm>
            <a:off x="4345694"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51" name="Google Shape;251;p6"/>
          <p:cNvSpPr txBox="1"/>
          <p:nvPr>
            <p:ph idx="1" type="body"/>
          </p:nvPr>
        </p:nvSpPr>
        <p:spPr>
          <a:xfrm>
            <a:off x="320975" y="727336"/>
            <a:ext cx="4275000" cy="46653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sz="1800">
                <a:latin typeface="Times New Roman"/>
                <a:ea typeface="Times New Roman"/>
                <a:cs typeface="Times New Roman"/>
                <a:sym typeface="Times New Roman"/>
              </a:rPr>
              <a:t>A bar graph is used to compare values of distinct categories with ease. The following graphs </a:t>
            </a:r>
            <a:r>
              <a:rPr lang="en-US" sz="1800">
                <a:latin typeface="Times New Roman"/>
                <a:ea typeface="Times New Roman"/>
                <a:cs typeface="Times New Roman"/>
                <a:sym typeface="Times New Roman"/>
              </a:rPr>
              <a:t>compare </a:t>
            </a:r>
            <a:r>
              <a:rPr lang="en-US"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US" sz="1800">
                <a:latin typeface="Times New Roman"/>
                <a:ea typeface="Times New Roman"/>
                <a:cs typeface="Times New Roman"/>
                <a:sym typeface="Times New Roman"/>
              </a:rPr>
              <a:t>The distribution of records by agriculture season.</a:t>
            </a:r>
            <a:endParaRPr sz="18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US" sz="1800">
                <a:latin typeface="Times New Roman"/>
                <a:ea typeface="Times New Roman"/>
                <a:cs typeface="Times New Roman"/>
                <a:sym typeface="Times New Roman"/>
              </a:rPr>
              <a:t>Highest and Lowest distribution of crops</a:t>
            </a:r>
            <a:endParaRPr sz="18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US" sz="1800">
                <a:latin typeface="Times New Roman"/>
                <a:ea typeface="Times New Roman"/>
                <a:cs typeface="Times New Roman"/>
                <a:sym typeface="Times New Roman"/>
              </a:rPr>
              <a:t>The average profit earned in each season </a:t>
            </a:r>
            <a:endParaRPr sz="18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US" sz="1800">
                <a:latin typeface="Times New Roman"/>
                <a:ea typeface="Times New Roman"/>
                <a:cs typeface="Times New Roman"/>
                <a:sym typeface="Times New Roman"/>
              </a:rPr>
              <a:t>Average Yield of Crop according to </a:t>
            </a:r>
            <a:r>
              <a:rPr lang="en-US" sz="1800">
                <a:latin typeface="Times New Roman"/>
                <a:ea typeface="Times New Roman"/>
                <a:cs typeface="Times New Roman"/>
                <a:sym typeface="Times New Roman"/>
              </a:rPr>
              <a:t>their</a:t>
            </a:r>
            <a:r>
              <a:rPr lang="en-US" sz="1800">
                <a:latin typeface="Times New Roman"/>
                <a:ea typeface="Times New Roman"/>
                <a:cs typeface="Times New Roman"/>
                <a:sym typeface="Times New Roman"/>
              </a:rPr>
              <a:t> respective season </a:t>
            </a:r>
            <a:endParaRPr sz="1800">
              <a:latin typeface="Times New Roman"/>
              <a:ea typeface="Times New Roman"/>
              <a:cs typeface="Times New Roman"/>
              <a:sym typeface="Times New Roman"/>
            </a:endParaRPr>
          </a:p>
          <a:p>
            <a:pPr indent="0" lvl="0" marL="0" rtl="0" algn="l">
              <a:spcBef>
                <a:spcPts val="0"/>
              </a:spcBef>
              <a:spcAft>
                <a:spcPts val="0"/>
              </a:spcAft>
              <a:buNone/>
            </a:pPr>
            <a:r>
              <a:rPr lang="en-US" sz="1800">
                <a:latin typeface="Times New Roman"/>
                <a:ea typeface="Times New Roman"/>
                <a:cs typeface="Times New Roman"/>
                <a:sym typeface="Times New Roman"/>
              </a:rPr>
              <a:t>Note: Bar graphs are used throughout the analysis and these are only a selection of various bar graphs.</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pic>
        <p:nvPicPr>
          <p:cNvPr id="252" name="Google Shape;252;p6"/>
          <p:cNvPicPr preferRelativeResize="0"/>
          <p:nvPr/>
        </p:nvPicPr>
        <p:blipFill>
          <a:blip r:embed="rId4">
            <a:alphaModFix/>
          </a:blip>
          <a:stretch>
            <a:fillRect/>
          </a:stretch>
        </p:blipFill>
        <p:spPr>
          <a:xfrm>
            <a:off x="4792297" y="1033274"/>
            <a:ext cx="3750750" cy="3355599"/>
          </a:xfrm>
          <a:prstGeom prst="rect">
            <a:avLst/>
          </a:prstGeom>
          <a:noFill/>
          <a:ln>
            <a:noFill/>
          </a:ln>
        </p:spPr>
      </p:pic>
      <p:pic>
        <p:nvPicPr>
          <p:cNvPr id="253" name="Google Shape;253;p6"/>
          <p:cNvPicPr preferRelativeResize="0"/>
          <p:nvPr/>
        </p:nvPicPr>
        <p:blipFill>
          <a:blip r:embed="rId5">
            <a:alphaModFix/>
          </a:blip>
          <a:stretch>
            <a:fillRect/>
          </a:stretch>
        </p:blipFill>
        <p:spPr>
          <a:xfrm>
            <a:off x="8543050" y="0"/>
            <a:ext cx="3655676" cy="4388876"/>
          </a:xfrm>
          <a:prstGeom prst="rect">
            <a:avLst/>
          </a:prstGeom>
          <a:noFill/>
          <a:ln>
            <a:noFill/>
          </a:ln>
        </p:spPr>
      </p:pic>
      <p:pic>
        <p:nvPicPr>
          <p:cNvPr id="254" name="Google Shape;254;p6"/>
          <p:cNvPicPr preferRelativeResize="0"/>
          <p:nvPr/>
        </p:nvPicPr>
        <p:blipFill>
          <a:blip r:embed="rId6">
            <a:alphaModFix/>
          </a:blip>
          <a:stretch>
            <a:fillRect/>
          </a:stretch>
        </p:blipFill>
        <p:spPr>
          <a:xfrm>
            <a:off x="4792300" y="4388875"/>
            <a:ext cx="3750751" cy="2469125"/>
          </a:xfrm>
          <a:prstGeom prst="rect">
            <a:avLst/>
          </a:prstGeom>
          <a:noFill/>
          <a:ln>
            <a:noFill/>
          </a:ln>
        </p:spPr>
      </p:pic>
      <p:pic>
        <p:nvPicPr>
          <p:cNvPr id="255" name="Google Shape;255;p6"/>
          <p:cNvPicPr preferRelativeResize="0"/>
          <p:nvPr/>
        </p:nvPicPr>
        <p:blipFill>
          <a:blip r:embed="rId7">
            <a:alphaModFix/>
          </a:blip>
          <a:stretch>
            <a:fillRect/>
          </a:stretch>
        </p:blipFill>
        <p:spPr>
          <a:xfrm>
            <a:off x="8543050" y="4388875"/>
            <a:ext cx="3655676" cy="2469125"/>
          </a:xfrm>
          <a:prstGeom prst="rect">
            <a:avLst/>
          </a:prstGeom>
          <a:noFill/>
          <a:ln>
            <a:noFill/>
          </a:ln>
        </p:spPr>
      </p:pic>
      <p:pic>
        <p:nvPicPr>
          <p:cNvPr id="256" name="Google Shape;256;p6"/>
          <p:cNvPicPr preferRelativeResize="0"/>
          <p:nvPr/>
        </p:nvPicPr>
        <p:blipFill>
          <a:blip r:embed="rId8">
            <a:alphaModFix/>
          </a:blip>
          <a:stretch>
            <a:fillRect/>
          </a:stretch>
        </p:blipFill>
        <p:spPr>
          <a:xfrm>
            <a:off x="0" y="4639975"/>
            <a:ext cx="4769726" cy="22180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500"/>
                                        <p:tgtEl>
                                          <p:spTgt spid="248"/>
                                        </p:tgtEl>
                                        <p:attrNameLst>
                                          <p:attrName>ppt_w</p:attrName>
                                        </p:attrNameLst>
                                      </p:cBhvr>
                                      <p:tavLst>
                                        <p:tav fmla="" tm="0">
                                          <p:val>
                                            <p:strVal val="0"/>
                                          </p:val>
                                        </p:tav>
                                        <p:tav fmla="" tm="100000">
                                          <p:val>
                                            <p:strVal val="#ppt_w"/>
                                          </p:val>
                                        </p:tav>
                                      </p:tavLst>
                                    </p:anim>
                                    <p:anim calcmode="lin" valueType="num">
                                      <p:cBhvr additive="base">
                                        <p:cTn dur="500"/>
                                        <p:tgtEl>
                                          <p:spTgt spid="24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0" st="0"/>
                                            </p:txEl>
                                          </p:spTgt>
                                        </p:tgtEl>
                                        <p:attrNameLst>
                                          <p:attrName>style.visibility</p:attrName>
                                        </p:attrNameLst>
                                      </p:cBhvr>
                                      <p:to>
                                        <p:strVal val="visible"/>
                                      </p:to>
                                    </p:set>
                                    <p:animEffect filter="fade" transition="in">
                                      <p:cBhvr>
                                        <p:cTn dur="1000"/>
                                        <p:tgtEl>
                                          <p:spTgt spid="2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 st="1"/>
                                            </p:txEl>
                                          </p:spTgt>
                                        </p:tgtEl>
                                        <p:attrNameLst>
                                          <p:attrName>style.visibility</p:attrName>
                                        </p:attrNameLst>
                                      </p:cBhvr>
                                      <p:to>
                                        <p:strVal val="visible"/>
                                      </p:to>
                                    </p:set>
                                    <p:animEffect filter="fade" transition="in">
                                      <p:cBhvr>
                                        <p:cTn dur="1000"/>
                                        <p:tgtEl>
                                          <p:spTgt spid="2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2" st="2"/>
                                            </p:txEl>
                                          </p:spTgt>
                                        </p:tgtEl>
                                        <p:attrNameLst>
                                          <p:attrName>style.visibility</p:attrName>
                                        </p:attrNameLst>
                                      </p:cBhvr>
                                      <p:to>
                                        <p:strVal val="visible"/>
                                      </p:to>
                                    </p:set>
                                    <p:animEffect filter="fade" transition="in">
                                      <p:cBhvr>
                                        <p:cTn dur="1000"/>
                                        <p:tgtEl>
                                          <p:spTgt spid="2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3" st="3"/>
                                            </p:txEl>
                                          </p:spTgt>
                                        </p:tgtEl>
                                        <p:attrNameLst>
                                          <p:attrName>style.visibility</p:attrName>
                                        </p:attrNameLst>
                                      </p:cBhvr>
                                      <p:to>
                                        <p:strVal val="visible"/>
                                      </p:to>
                                    </p:set>
                                    <p:animEffect filter="fade" transition="in">
                                      <p:cBhvr>
                                        <p:cTn dur="1000"/>
                                        <p:tgtEl>
                                          <p:spTgt spid="2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4" st="4"/>
                                            </p:txEl>
                                          </p:spTgt>
                                        </p:tgtEl>
                                        <p:attrNameLst>
                                          <p:attrName>style.visibility</p:attrName>
                                        </p:attrNameLst>
                                      </p:cBhvr>
                                      <p:to>
                                        <p:strVal val="visible"/>
                                      </p:to>
                                    </p:set>
                                    <p:animEffect filter="fade" transition="in">
                                      <p:cBhvr>
                                        <p:cTn dur="1000"/>
                                        <p:tgtEl>
                                          <p:spTgt spid="2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5" st="5"/>
                                            </p:txEl>
                                          </p:spTgt>
                                        </p:tgtEl>
                                        <p:attrNameLst>
                                          <p:attrName>style.visibility</p:attrName>
                                        </p:attrNameLst>
                                      </p:cBhvr>
                                      <p:to>
                                        <p:strVal val="visible"/>
                                      </p:to>
                                    </p:set>
                                    <p:animEffect filter="fade" transition="in">
                                      <p:cBhvr>
                                        <p:cTn dur="1000"/>
                                        <p:tgtEl>
                                          <p:spTgt spid="2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6" st="6"/>
                                            </p:txEl>
                                          </p:spTgt>
                                        </p:tgtEl>
                                        <p:attrNameLst>
                                          <p:attrName>style.visibility</p:attrName>
                                        </p:attrNameLst>
                                      </p:cBhvr>
                                      <p:to>
                                        <p:strVal val="visible"/>
                                      </p:to>
                                    </p:set>
                                    <p:animEffect filter="fade" transition="in">
                                      <p:cBhvr>
                                        <p:cTn dur="1000"/>
                                        <p:tgtEl>
                                          <p:spTgt spid="25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9"/>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62" name="Google Shape;262;p9"/>
          <p:cNvSpPr txBox="1"/>
          <p:nvPr>
            <p:ph type="title"/>
          </p:nvPr>
        </p:nvSpPr>
        <p:spPr>
          <a:xfrm>
            <a:off x="152916" y="146750"/>
            <a:ext cx="68607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sz="4300">
                <a:latin typeface="Times New Roman"/>
                <a:ea typeface="Times New Roman"/>
                <a:cs typeface="Times New Roman"/>
                <a:sym typeface="Times New Roman"/>
              </a:rPr>
              <a:t>RESULTS</a:t>
            </a:r>
            <a:r>
              <a:rPr lang="en-US" sz="4300">
                <a:latin typeface="Times New Roman"/>
                <a:ea typeface="Times New Roman"/>
                <a:cs typeface="Times New Roman"/>
                <a:sym typeface="Times New Roman"/>
              </a:rPr>
              <a:t>- BOX PLOT</a:t>
            </a:r>
            <a:endParaRPr sz="4300">
              <a:latin typeface="Times New Roman"/>
              <a:ea typeface="Times New Roman"/>
              <a:cs typeface="Times New Roman"/>
              <a:sym typeface="Times New Roman"/>
            </a:endParaRPr>
          </a:p>
        </p:txBody>
      </p:sp>
      <p:sp>
        <p:nvSpPr>
          <p:cNvPr id="263" name="Google Shape;263;p9"/>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64" name="Google Shape;264;p9"/>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65" name="Google Shape;265;p9"/>
          <p:cNvSpPr txBox="1"/>
          <p:nvPr>
            <p:ph idx="1" type="body"/>
          </p:nvPr>
        </p:nvSpPr>
        <p:spPr>
          <a:xfrm>
            <a:off x="320975" y="977750"/>
            <a:ext cx="3746100" cy="5766600"/>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SzPts val="1600"/>
              <a:buNone/>
            </a:pPr>
            <a:r>
              <a:rPr lang="en-US">
                <a:latin typeface="Times New Roman"/>
                <a:ea typeface="Times New Roman"/>
                <a:cs typeface="Times New Roman"/>
                <a:sym typeface="Times New Roman"/>
              </a:rPr>
              <a:t>A box plot is used to understand the distribution,</a:t>
            </a:r>
            <a:r>
              <a:rPr lang="en-US">
                <a:latin typeface="Times New Roman"/>
                <a:ea typeface="Times New Roman"/>
                <a:cs typeface="Times New Roman"/>
                <a:sym typeface="Times New Roman"/>
              </a:rPr>
              <a:t>variability</a:t>
            </a:r>
            <a:r>
              <a:rPr lang="en-US">
                <a:latin typeface="Times New Roman"/>
                <a:ea typeface="Times New Roman"/>
                <a:cs typeface="Times New Roman"/>
                <a:sym typeface="Times New Roman"/>
              </a:rPr>
              <a:t>, median, and outliers in numerical data.The following graphs are used for :-</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Comparing yield across different agricultural seasons</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To identify &amp; compare the fertilizer efficiency across different irrigation methods</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Identification of Outliers(unusual values in key variables i.e. yield, profit,water and fertilizer </a:t>
            </a:r>
            <a:r>
              <a:rPr lang="en-US">
                <a:latin typeface="Times New Roman"/>
                <a:ea typeface="Times New Roman"/>
                <a:cs typeface="Times New Roman"/>
                <a:sym typeface="Times New Roman"/>
              </a:rPr>
              <a:t>usage</a:t>
            </a:r>
            <a:r>
              <a:rPr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To compare </a:t>
            </a:r>
            <a:r>
              <a:rPr lang="en-US">
                <a:latin typeface="Times New Roman"/>
                <a:ea typeface="Times New Roman"/>
                <a:cs typeface="Times New Roman"/>
                <a:sym typeface="Times New Roman"/>
              </a:rPr>
              <a:t>yield</a:t>
            </a:r>
            <a:r>
              <a:rPr lang="en-US">
                <a:latin typeface="Times New Roman"/>
                <a:ea typeface="Times New Roman"/>
                <a:cs typeface="Times New Roman"/>
                <a:sym typeface="Times New Roman"/>
              </a:rPr>
              <a:t> variation among different crops across seasons.</a:t>
            </a:r>
            <a:endParaRPr>
              <a:latin typeface="Times New Roman"/>
              <a:ea typeface="Times New Roman"/>
              <a:cs typeface="Times New Roman"/>
              <a:sym typeface="Times New Roman"/>
            </a:endParaRPr>
          </a:p>
          <a:p>
            <a:pPr indent="0" lvl="0" marL="0" rtl="0" algn="l">
              <a:spcBef>
                <a:spcPts val="0"/>
              </a:spcBef>
              <a:spcAft>
                <a:spcPts val="0"/>
              </a:spcAft>
              <a:buNone/>
            </a:pPr>
            <a:r>
              <a:rPr lang="en-US">
                <a:latin typeface="Times New Roman"/>
                <a:ea typeface="Times New Roman"/>
                <a:cs typeface="Times New Roman"/>
                <a:sym typeface="Times New Roman"/>
              </a:rPr>
              <a:t>Note: Box plots are used </a:t>
            </a:r>
            <a:r>
              <a:rPr lang="en-US">
                <a:latin typeface="Times New Roman"/>
                <a:ea typeface="Times New Roman"/>
                <a:cs typeface="Times New Roman"/>
                <a:sym typeface="Times New Roman"/>
              </a:rPr>
              <a:t>throughout</a:t>
            </a:r>
            <a:r>
              <a:rPr lang="en-US">
                <a:latin typeface="Times New Roman"/>
                <a:ea typeface="Times New Roman"/>
                <a:cs typeface="Times New Roman"/>
                <a:sym typeface="Times New Roman"/>
              </a:rPr>
              <a:t> the analysis;the graphs shown here only represent a few of the many box plots generated.</a:t>
            </a:r>
            <a:endParaRPr>
              <a:latin typeface="Times New Roman"/>
              <a:ea typeface="Times New Roman"/>
              <a:cs typeface="Times New Roman"/>
              <a:sym typeface="Times New Roman"/>
            </a:endParaRPr>
          </a:p>
        </p:txBody>
      </p:sp>
      <p:pic>
        <p:nvPicPr>
          <p:cNvPr id="266" name="Google Shape;266;p9"/>
          <p:cNvPicPr preferRelativeResize="0"/>
          <p:nvPr/>
        </p:nvPicPr>
        <p:blipFill>
          <a:blip r:embed="rId4">
            <a:alphaModFix/>
          </a:blip>
          <a:stretch>
            <a:fillRect/>
          </a:stretch>
        </p:blipFill>
        <p:spPr>
          <a:xfrm>
            <a:off x="4067075" y="977750"/>
            <a:ext cx="3910050" cy="2392724"/>
          </a:xfrm>
          <a:prstGeom prst="rect">
            <a:avLst/>
          </a:prstGeom>
          <a:noFill/>
          <a:ln>
            <a:noFill/>
          </a:ln>
        </p:spPr>
      </p:pic>
      <p:pic>
        <p:nvPicPr>
          <p:cNvPr id="267" name="Google Shape;267;p9"/>
          <p:cNvPicPr preferRelativeResize="0"/>
          <p:nvPr/>
        </p:nvPicPr>
        <p:blipFill>
          <a:blip r:embed="rId5">
            <a:alphaModFix/>
          </a:blip>
          <a:stretch>
            <a:fillRect/>
          </a:stretch>
        </p:blipFill>
        <p:spPr>
          <a:xfrm>
            <a:off x="7916850" y="0"/>
            <a:ext cx="4275127" cy="4129801"/>
          </a:xfrm>
          <a:prstGeom prst="rect">
            <a:avLst/>
          </a:prstGeom>
          <a:noFill/>
          <a:ln>
            <a:noFill/>
          </a:ln>
        </p:spPr>
      </p:pic>
      <p:pic>
        <p:nvPicPr>
          <p:cNvPr id="268" name="Google Shape;268;p9"/>
          <p:cNvPicPr preferRelativeResize="0"/>
          <p:nvPr/>
        </p:nvPicPr>
        <p:blipFill>
          <a:blip r:embed="rId6">
            <a:alphaModFix/>
          </a:blip>
          <a:stretch>
            <a:fillRect/>
          </a:stretch>
        </p:blipFill>
        <p:spPr>
          <a:xfrm>
            <a:off x="7977125" y="4129800"/>
            <a:ext cx="4214877" cy="2728199"/>
          </a:xfrm>
          <a:prstGeom prst="rect">
            <a:avLst/>
          </a:prstGeom>
          <a:noFill/>
          <a:ln>
            <a:noFill/>
          </a:ln>
        </p:spPr>
      </p:pic>
      <p:pic>
        <p:nvPicPr>
          <p:cNvPr id="269" name="Google Shape;269;p9"/>
          <p:cNvPicPr preferRelativeResize="0"/>
          <p:nvPr/>
        </p:nvPicPr>
        <p:blipFill>
          <a:blip r:embed="rId7">
            <a:alphaModFix/>
          </a:blip>
          <a:stretch>
            <a:fillRect/>
          </a:stretch>
        </p:blipFill>
        <p:spPr>
          <a:xfrm>
            <a:off x="4062450" y="3370475"/>
            <a:ext cx="3910051" cy="34875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2"/>
                                        </p:tgtEl>
                                        <p:attrNameLst>
                                          <p:attrName>style.visibility</p:attrName>
                                        </p:attrNameLst>
                                      </p:cBhvr>
                                      <p:to>
                                        <p:strVal val="visible"/>
                                      </p:to>
                                    </p:set>
                                    <p:anim calcmode="lin" valueType="num">
                                      <p:cBhvr additive="base">
                                        <p:cTn dur="500"/>
                                        <p:tgtEl>
                                          <p:spTgt spid="262"/>
                                        </p:tgtEl>
                                        <p:attrNameLst>
                                          <p:attrName>ppt_w</p:attrName>
                                        </p:attrNameLst>
                                      </p:cBhvr>
                                      <p:tavLst>
                                        <p:tav fmla="" tm="0">
                                          <p:val>
                                            <p:strVal val="0"/>
                                          </p:val>
                                        </p:tav>
                                        <p:tav fmla="" tm="100000">
                                          <p:val>
                                            <p:strVal val="#ppt_w"/>
                                          </p:val>
                                        </p:tav>
                                      </p:tavLst>
                                    </p:anim>
                                    <p:anim calcmode="lin" valueType="num">
                                      <p:cBhvr additive="base">
                                        <p:cTn dur="500"/>
                                        <p:tgtEl>
                                          <p:spTgt spid="26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1000"/>
                                        <p:tgtEl>
                                          <p:spTgt spid="2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10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0" st="0"/>
                                            </p:txEl>
                                          </p:spTgt>
                                        </p:tgtEl>
                                        <p:attrNameLst>
                                          <p:attrName>style.visibility</p:attrName>
                                        </p:attrNameLst>
                                      </p:cBhvr>
                                      <p:to>
                                        <p:strVal val="visible"/>
                                      </p:to>
                                    </p:set>
                                    <p:animEffect filter="fade" transition="in">
                                      <p:cBhvr>
                                        <p:cTn dur="1000"/>
                                        <p:tgtEl>
                                          <p:spTgt spid="2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1" st="1"/>
                                            </p:txEl>
                                          </p:spTgt>
                                        </p:tgtEl>
                                        <p:attrNameLst>
                                          <p:attrName>style.visibility</p:attrName>
                                        </p:attrNameLst>
                                      </p:cBhvr>
                                      <p:to>
                                        <p:strVal val="visible"/>
                                      </p:to>
                                    </p:set>
                                    <p:animEffect filter="fade" transition="in">
                                      <p:cBhvr>
                                        <p:cTn dur="1000"/>
                                        <p:tgtEl>
                                          <p:spTgt spid="2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2" st="2"/>
                                            </p:txEl>
                                          </p:spTgt>
                                        </p:tgtEl>
                                        <p:attrNameLst>
                                          <p:attrName>style.visibility</p:attrName>
                                        </p:attrNameLst>
                                      </p:cBhvr>
                                      <p:to>
                                        <p:strVal val="visible"/>
                                      </p:to>
                                    </p:set>
                                    <p:animEffect filter="fade" transition="in">
                                      <p:cBhvr>
                                        <p:cTn dur="1000"/>
                                        <p:tgtEl>
                                          <p:spTgt spid="2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3" st="3"/>
                                            </p:txEl>
                                          </p:spTgt>
                                        </p:tgtEl>
                                        <p:attrNameLst>
                                          <p:attrName>style.visibility</p:attrName>
                                        </p:attrNameLst>
                                      </p:cBhvr>
                                      <p:to>
                                        <p:strVal val="visible"/>
                                      </p:to>
                                    </p:set>
                                    <p:animEffect filter="fade" transition="in">
                                      <p:cBhvr>
                                        <p:cTn dur="1000"/>
                                        <p:tgtEl>
                                          <p:spTgt spid="2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4" st="4"/>
                                            </p:txEl>
                                          </p:spTgt>
                                        </p:tgtEl>
                                        <p:attrNameLst>
                                          <p:attrName>style.visibility</p:attrName>
                                        </p:attrNameLst>
                                      </p:cBhvr>
                                      <p:to>
                                        <p:strVal val="visible"/>
                                      </p:to>
                                    </p:set>
                                    <p:animEffect filter="fade" transition="in">
                                      <p:cBhvr>
                                        <p:cTn dur="1000"/>
                                        <p:tgtEl>
                                          <p:spTgt spid="2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5" st="5"/>
                                            </p:txEl>
                                          </p:spTgt>
                                        </p:tgtEl>
                                        <p:attrNameLst>
                                          <p:attrName>style.visibility</p:attrName>
                                        </p:attrNameLst>
                                      </p:cBhvr>
                                      <p:to>
                                        <p:strVal val="visible"/>
                                      </p:to>
                                    </p:set>
                                    <p:animEffect filter="fade" transition="in">
                                      <p:cBhvr>
                                        <p:cTn dur="1000"/>
                                        <p:tgtEl>
                                          <p:spTgt spid="265">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7"/>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75" name="Google Shape;275;p7"/>
          <p:cNvSpPr txBox="1"/>
          <p:nvPr>
            <p:ph type="title"/>
          </p:nvPr>
        </p:nvSpPr>
        <p:spPr>
          <a:xfrm>
            <a:off x="675937" y="370600"/>
            <a:ext cx="84342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sz="4300">
                <a:latin typeface="Times New Roman"/>
                <a:ea typeface="Times New Roman"/>
                <a:cs typeface="Times New Roman"/>
                <a:sym typeface="Times New Roman"/>
              </a:rPr>
              <a:t>RESULTS: </a:t>
            </a:r>
            <a:r>
              <a:rPr lang="en-US" sz="4300">
                <a:latin typeface="Times New Roman"/>
                <a:ea typeface="Times New Roman"/>
                <a:cs typeface="Times New Roman"/>
                <a:sym typeface="Times New Roman"/>
              </a:rPr>
              <a:t>PIE CHART</a:t>
            </a:r>
            <a:endParaRPr sz="4300">
              <a:latin typeface="Times New Roman"/>
              <a:ea typeface="Times New Roman"/>
              <a:cs typeface="Times New Roman"/>
              <a:sym typeface="Times New Roman"/>
            </a:endParaRPr>
          </a:p>
        </p:txBody>
      </p:sp>
      <p:sp>
        <p:nvSpPr>
          <p:cNvPr id="276" name="Google Shape;276;p7"/>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77" name="Google Shape;277;p7"/>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78" name="Google Shape;278;p7"/>
          <p:cNvSpPr txBox="1"/>
          <p:nvPr>
            <p:ph idx="1" type="body"/>
          </p:nvPr>
        </p:nvSpPr>
        <p:spPr>
          <a:xfrm>
            <a:off x="587925" y="1201600"/>
            <a:ext cx="4446300" cy="53319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None/>
            </a:pPr>
            <a:r>
              <a:rPr lang="en-US">
                <a:latin typeface="Times New Roman"/>
                <a:ea typeface="Times New Roman"/>
                <a:cs typeface="Times New Roman"/>
                <a:sym typeface="Times New Roman"/>
              </a:rPr>
              <a:t>Pie chart is used to show how a whole is divided among different categories.</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The following pie chart shows the distribution of records which are spread out across the three </a:t>
            </a:r>
            <a:r>
              <a:rPr lang="en-US">
                <a:latin typeface="Times New Roman"/>
                <a:ea typeface="Times New Roman"/>
                <a:cs typeface="Times New Roman"/>
                <a:sym typeface="Times New Roman"/>
              </a:rPr>
              <a:t>agricultural</a:t>
            </a:r>
            <a:r>
              <a:rPr lang="en-US">
                <a:latin typeface="Times New Roman"/>
                <a:ea typeface="Times New Roman"/>
                <a:cs typeface="Times New Roman"/>
                <a:sym typeface="Times New Roman"/>
              </a:rPr>
              <a:t> seasons i.e. Kharif, Rabi and Zaid. </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The Kharif season has the largest portion of the records with 44.5% then comes Rabi with 40.7%. whereas Zaid has the smallest portion with 14.8% of all the records. </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b="1" lang="en-US">
                <a:latin typeface="Times New Roman"/>
                <a:ea typeface="Times New Roman"/>
                <a:cs typeface="Times New Roman"/>
                <a:sym typeface="Times New Roman"/>
              </a:rPr>
              <a:t>Key Insight:</a:t>
            </a:r>
            <a:r>
              <a:rPr lang="en-US">
                <a:latin typeface="Times New Roman"/>
                <a:ea typeface="Times New Roman"/>
                <a:cs typeface="Times New Roman"/>
                <a:sym typeface="Times New Roman"/>
              </a:rPr>
              <a:t>Overall, the distribution Kharif and Rabi </a:t>
            </a:r>
            <a:r>
              <a:rPr lang="en-US">
                <a:latin typeface="Times New Roman"/>
                <a:ea typeface="Times New Roman"/>
                <a:cs typeface="Times New Roman"/>
                <a:sym typeface="Times New Roman"/>
              </a:rPr>
              <a:t>constitute</a:t>
            </a:r>
            <a:r>
              <a:rPr lang="en-US">
                <a:latin typeface="Times New Roman"/>
                <a:ea typeface="Times New Roman"/>
                <a:cs typeface="Times New Roman"/>
                <a:sym typeface="Times New Roman"/>
              </a:rPr>
              <a:t> the majority portion of the records and Zaid has a comparatively smaller </a:t>
            </a:r>
            <a:r>
              <a:rPr lang="en-US">
                <a:latin typeface="Times New Roman"/>
                <a:ea typeface="Times New Roman"/>
                <a:cs typeface="Times New Roman"/>
                <a:sym typeface="Times New Roman"/>
              </a:rPr>
              <a:t>representation</a:t>
            </a:r>
            <a:r>
              <a:rPr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pic>
        <p:nvPicPr>
          <p:cNvPr id="279" name="Google Shape;279;p7"/>
          <p:cNvPicPr preferRelativeResize="0"/>
          <p:nvPr/>
        </p:nvPicPr>
        <p:blipFill>
          <a:blip r:embed="rId4">
            <a:alphaModFix/>
          </a:blip>
          <a:stretch>
            <a:fillRect/>
          </a:stretch>
        </p:blipFill>
        <p:spPr>
          <a:xfrm>
            <a:off x="5144200" y="1146850"/>
            <a:ext cx="7047799" cy="57111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5"/>
                                        </p:tgtEl>
                                        <p:attrNameLst>
                                          <p:attrName>style.visibility</p:attrName>
                                        </p:attrNameLst>
                                      </p:cBhvr>
                                      <p:to>
                                        <p:strVal val="visible"/>
                                      </p:to>
                                    </p:set>
                                    <p:anim calcmode="lin" valueType="num">
                                      <p:cBhvr additive="base">
                                        <p:cTn dur="500"/>
                                        <p:tgtEl>
                                          <p:spTgt spid="275"/>
                                        </p:tgtEl>
                                        <p:attrNameLst>
                                          <p:attrName>ppt_w</p:attrName>
                                        </p:attrNameLst>
                                      </p:cBhvr>
                                      <p:tavLst>
                                        <p:tav fmla="" tm="0">
                                          <p:val>
                                            <p:strVal val="0"/>
                                          </p:val>
                                        </p:tav>
                                        <p:tav fmla="" tm="100000">
                                          <p:val>
                                            <p:strVal val="#ppt_w"/>
                                          </p:val>
                                        </p:tav>
                                      </p:tavLst>
                                    </p:anim>
                                    <p:anim calcmode="lin" valueType="num">
                                      <p:cBhvr additive="base">
                                        <p:cTn dur="500"/>
                                        <p:tgtEl>
                                          <p:spTgt spid="27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1000"/>
                                        <p:tgtEl>
                                          <p:spTgt spid="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0" st="0"/>
                                            </p:txEl>
                                          </p:spTgt>
                                        </p:tgtEl>
                                        <p:attrNameLst>
                                          <p:attrName>style.visibility</p:attrName>
                                        </p:attrNameLst>
                                      </p:cBhvr>
                                      <p:to>
                                        <p:strVal val="visible"/>
                                      </p:to>
                                    </p:set>
                                    <p:animEffect filter="fade" transition="in">
                                      <p:cBhvr>
                                        <p:cTn dur="1000"/>
                                        <p:tgtEl>
                                          <p:spTgt spid="2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1" st="1"/>
                                            </p:txEl>
                                          </p:spTgt>
                                        </p:tgtEl>
                                        <p:attrNameLst>
                                          <p:attrName>style.visibility</p:attrName>
                                        </p:attrNameLst>
                                      </p:cBhvr>
                                      <p:to>
                                        <p:strVal val="visible"/>
                                      </p:to>
                                    </p:set>
                                    <p:animEffect filter="fade" transition="in">
                                      <p:cBhvr>
                                        <p:cTn dur="1000"/>
                                        <p:tgtEl>
                                          <p:spTgt spid="2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2" st="2"/>
                                            </p:txEl>
                                          </p:spTgt>
                                        </p:tgtEl>
                                        <p:attrNameLst>
                                          <p:attrName>style.visibility</p:attrName>
                                        </p:attrNameLst>
                                      </p:cBhvr>
                                      <p:to>
                                        <p:strVal val="visible"/>
                                      </p:to>
                                    </p:set>
                                    <p:animEffect filter="fade" transition="in">
                                      <p:cBhvr>
                                        <p:cTn dur="1000"/>
                                        <p:tgtEl>
                                          <p:spTgt spid="2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3" st="3"/>
                                            </p:txEl>
                                          </p:spTgt>
                                        </p:tgtEl>
                                        <p:attrNameLst>
                                          <p:attrName>style.visibility</p:attrName>
                                        </p:attrNameLst>
                                      </p:cBhvr>
                                      <p:to>
                                        <p:strVal val="visible"/>
                                      </p:to>
                                    </p:set>
                                    <p:animEffect filter="fade" transition="in">
                                      <p:cBhvr>
                                        <p:cTn dur="1000"/>
                                        <p:tgtEl>
                                          <p:spTgt spid="27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id="284" name="Google Shape;284;p8"/>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85" name="Google Shape;285;p8"/>
          <p:cNvSpPr txBox="1"/>
          <p:nvPr>
            <p:ph type="title"/>
          </p:nvPr>
        </p:nvSpPr>
        <p:spPr>
          <a:xfrm>
            <a:off x="320966" y="384600"/>
            <a:ext cx="70014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sz="4300">
                <a:latin typeface="Times New Roman"/>
                <a:ea typeface="Times New Roman"/>
                <a:cs typeface="Times New Roman"/>
                <a:sym typeface="Times New Roman"/>
              </a:rPr>
              <a:t>RESULTS-HISTOGRAM </a:t>
            </a:r>
            <a:endParaRPr sz="4300">
              <a:latin typeface="Times New Roman"/>
              <a:ea typeface="Times New Roman"/>
              <a:cs typeface="Times New Roman"/>
              <a:sym typeface="Times New Roman"/>
            </a:endParaRPr>
          </a:p>
        </p:txBody>
      </p:sp>
      <p:sp>
        <p:nvSpPr>
          <p:cNvPr id="286" name="Google Shape;286;p8"/>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87" name="Google Shape;287;p8"/>
          <p:cNvSpPr txBox="1"/>
          <p:nvPr>
            <p:ph idx="1" type="body"/>
          </p:nvPr>
        </p:nvSpPr>
        <p:spPr>
          <a:xfrm>
            <a:off x="241300" y="1275375"/>
            <a:ext cx="4312500" cy="51966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SzPct val="80000"/>
              <a:buNone/>
            </a:pPr>
            <a:r>
              <a:rPr lang="en-US">
                <a:latin typeface="Times New Roman"/>
                <a:ea typeface="Times New Roman"/>
                <a:cs typeface="Times New Roman"/>
                <a:sym typeface="Times New Roman"/>
              </a:rPr>
              <a:t>Histogram are used to understand the distribution, frequency, and overall patterns of numerical data.The following graphs showcase:</a:t>
            </a:r>
            <a:endParaRPr>
              <a:latin typeface="Times New Roman"/>
              <a:ea typeface="Times New Roman"/>
              <a:cs typeface="Times New Roman"/>
              <a:sym typeface="Times New Roman"/>
            </a:endParaRPr>
          </a:p>
          <a:p>
            <a:pPr indent="-322580" lvl="0" marL="457200" rtl="0" algn="l">
              <a:spcBef>
                <a:spcPts val="0"/>
              </a:spcBef>
              <a:spcAft>
                <a:spcPts val="0"/>
              </a:spcAft>
              <a:buSzPct val="80000"/>
              <a:buFont typeface="Times New Roman"/>
              <a:buChar char="●"/>
            </a:pPr>
            <a:r>
              <a:rPr b="1" lang="en-US">
                <a:latin typeface="Times New Roman"/>
                <a:ea typeface="Times New Roman"/>
                <a:cs typeface="Times New Roman"/>
                <a:sym typeface="Times New Roman"/>
              </a:rPr>
              <a:t>Rainfall distribution</a:t>
            </a:r>
            <a:r>
              <a:rPr lang="en-US">
                <a:latin typeface="Times New Roman"/>
                <a:ea typeface="Times New Roman"/>
                <a:cs typeface="Times New Roman"/>
                <a:sym typeface="Times New Roman"/>
              </a:rPr>
              <a:t> across different ranges, with most </a:t>
            </a:r>
            <a:r>
              <a:rPr lang="en-US">
                <a:latin typeface="Times New Roman"/>
                <a:ea typeface="Times New Roman"/>
                <a:cs typeface="Times New Roman"/>
                <a:sym typeface="Times New Roman"/>
              </a:rPr>
              <a:t>observations</a:t>
            </a:r>
            <a:r>
              <a:rPr lang="en-US">
                <a:latin typeface="Times New Roman"/>
                <a:ea typeface="Times New Roman"/>
                <a:cs typeface="Times New Roman"/>
                <a:sym typeface="Times New Roman"/>
              </a:rPr>
              <a:t> concentrated </a:t>
            </a:r>
            <a:r>
              <a:rPr lang="en-US">
                <a:latin typeface="Times New Roman"/>
                <a:ea typeface="Times New Roman"/>
                <a:cs typeface="Times New Roman"/>
                <a:sym typeface="Times New Roman"/>
              </a:rPr>
              <a:t>around</a:t>
            </a:r>
            <a:r>
              <a:rPr lang="en-US">
                <a:latin typeface="Times New Roman"/>
                <a:ea typeface="Times New Roman"/>
                <a:cs typeface="Times New Roman"/>
                <a:sym typeface="Times New Roman"/>
              </a:rPr>
              <a:t> moderate rainfall levels.</a:t>
            </a:r>
            <a:endParaRPr>
              <a:latin typeface="Times New Roman"/>
              <a:ea typeface="Times New Roman"/>
              <a:cs typeface="Times New Roman"/>
              <a:sym typeface="Times New Roman"/>
            </a:endParaRPr>
          </a:p>
          <a:p>
            <a:pPr indent="-322580" lvl="0" marL="457200" rtl="0" algn="l">
              <a:spcBef>
                <a:spcPts val="0"/>
              </a:spcBef>
              <a:spcAft>
                <a:spcPts val="0"/>
              </a:spcAft>
              <a:buSzPct val="80000"/>
              <a:buFont typeface="Times New Roman"/>
              <a:buChar char="●"/>
            </a:pPr>
            <a:r>
              <a:rPr lang="en-US">
                <a:latin typeface="Times New Roman"/>
                <a:ea typeface="Times New Roman"/>
                <a:cs typeface="Times New Roman"/>
                <a:sym typeface="Times New Roman"/>
              </a:rPr>
              <a:t>Shows the most </a:t>
            </a:r>
            <a:r>
              <a:rPr b="1" lang="en-US">
                <a:latin typeface="Times New Roman"/>
                <a:ea typeface="Times New Roman"/>
                <a:cs typeface="Times New Roman"/>
                <a:sym typeface="Times New Roman"/>
              </a:rPr>
              <a:t>agriculture yield </a:t>
            </a:r>
            <a:r>
              <a:rPr lang="en-US">
                <a:latin typeface="Times New Roman"/>
                <a:ea typeface="Times New Roman"/>
                <a:cs typeface="Times New Roman"/>
                <a:sym typeface="Times New Roman"/>
              </a:rPr>
              <a:t>are concentrated at the lower end with only a few high values.</a:t>
            </a:r>
            <a:endParaRPr>
              <a:latin typeface="Times New Roman"/>
              <a:ea typeface="Times New Roman"/>
              <a:cs typeface="Times New Roman"/>
              <a:sym typeface="Times New Roman"/>
            </a:endParaRPr>
          </a:p>
          <a:p>
            <a:pPr indent="-322580" lvl="0" marL="457200" rtl="0" algn="l">
              <a:spcBef>
                <a:spcPts val="0"/>
              </a:spcBef>
              <a:spcAft>
                <a:spcPts val="0"/>
              </a:spcAft>
              <a:buSzPct val="80000"/>
              <a:buFont typeface="Times New Roman"/>
              <a:buChar char="●"/>
            </a:pPr>
            <a:r>
              <a:rPr lang="en-US">
                <a:latin typeface="Times New Roman"/>
                <a:ea typeface="Times New Roman"/>
                <a:cs typeface="Times New Roman"/>
                <a:sym typeface="Times New Roman"/>
              </a:rPr>
              <a:t>Shows that the </a:t>
            </a:r>
            <a:r>
              <a:rPr b="1" lang="en-US">
                <a:latin typeface="Times New Roman"/>
                <a:ea typeface="Times New Roman"/>
                <a:cs typeface="Times New Roman"/>
                <a:sym typeface="Times New Roman"/>
              </a:rPr>
              <a:t>water-efficiency </a:t>
            </a:r>
            <a:r>
              <a:rPr lang="en-US">
                <a:latin typeface="Times New Roman"/>
                <a:ea typeface="Times New Roman"/>
                <a:cs typeface="Times New Roman"/>
                <a:sym typeface="Times New Roman"/>
              </a:rPr>
              <a:t>values are mainly concentrated near lower range </a:t>
            </a:r>
            <a:endParaRPr>
              <a:latin typeface="Times New Roman"/>
              <a:ea typeface="Times New Roman"/>
              <a:cs typeface="Times New Roman"/>
              <a:sym typeface="Times New Roman"/>
            </a:endParaRPr>
          </a:p>
          <a:p>
            <a:pPr indent="-322580" lvl="0" marL="457200" rtl="0" algn="l">
              <a:spcBef>
                <a:spcPts val="0"/>
              </a:spcBef>
              <a:spcAft>
                <a:spcPts val="0"/>
              </a:spcAft>
              <a:buSzPct val="80000"/>
              <a:buFont typeface="Times New Roman"/>
              <a:buChar char="●"/>
            </a:pPr>
            <a:r>
              <a:rPr lang="en-US">
                <a:latin typeface="Times New Roman"/>
                <a:ea typeface="Times New Roman"/>
                <a:cs typeface="Times New Roman"/>
                <a:sym typeface="Times New Roman"/>
              </a:rPr>
              <a:t>Shows </a:t>
            </a:r>
            <a:r>
              <a:rPr b="1" lang="en-US">
                <a:latin typeface="Times New Roman"/>
                <a:ea typeface="Times New Roman"/>
                <a:cs typeface="Times New Roman"/>
                <a:sym typeface="Times New Roman"/>
              </a:rPr>
              <a:t>profit per hectare</a:t>
            </a:r>
            <a:r>
              <a:rPr lang="en-US">
                <a:latin typeface="Times New Roman"/>
                <a:ea typeface="Times New Roman"/>
                <a:cs typeface="Times New Roman"/>
                <a:sym typeface="Times New Roman"/>
              </a:rPr>
              <a:t> is also concentrated at lower values with a small number of high-profit observations.</a:t>
            </a:r>
            <a:endParaRPr>
              <a:latin typeface="Times New Roman"/>
              <a:ea typeface="Times New Roman"/>
              <a:cs typeface="Times New Roman"/>
              <a:sym typeface="Times New Roman"/>
            </a:endParaRPr>
          </a:p>
          <a:p>
            <a:pPr indent="0" lvl="0" marL="0" rtl="0" algn="l">
              <a:spcBef>
                <a:spcPts val="0"/>
              </a:spcBef>
              <a:spcAft>
                <a:spcPts val="0"/>
              </a:spcAft>
              <a:buNone/>
            </a:pPr>
            <a:r>
              <a:rPr lang="en-US">
                <a:latin typeface="Times New Roman"/>
                <a:ea typeface="Times New Roman"/>
                <a:cs typeface="Times New Roman"/>
                <a:sym typeface="Times New Roman"/>
              </a:rPr>
              <a:t>Note: Histograms are used throughout the analysis;the graphs shown here only represent a few of the many histograms generated.</a:t>
            </a:r>
            <a:endParaRPr>
              <a:latin typeface="Times New Roman"/>
              <a:ea typeface="Times New Roman"/>
              <a:cs typeface="Times New Roman"/>
              <a:sym typeface="Times New Roman"/>
            </a:endParaRPr>
          </a:p>
        </p:txBody>
      </p:sp>
      <p:pic>
        <p:nvPicPr>
          <p:cNvPr id="288" name="Google Shape;288;p8"/>
          <p:cNvPicPr preferRelativeResize="0"/>
          <p:nvPr/>
        </p:nvPicPr>
        <p:blipFill>
          <a:blip r:embed="rId4">
            <a:alphaModFix/>
          </a:blip>
          <a:stretch>
            <a:fillRect/>
          </a:stretch>
        </p:blipFill>
        <p:spPr>
          <a:xfrm>
            <a:off x="4626000" y="2469600"/>
            <a:ext cx="4619399" cy="4388399"/>
          </a:xfrm>
          <a:prstGeom prst="rect">
            <a:avLst/>
          </a:prstGeom>
          <a:noFill/>
          <a:ln>
            <a:noFill/>
          </a:ln>
        </p:spPr>
      </p:pic>
      <p:pic>
        <p:nvPicPr>
          <p:cNvPr id="289" name="Google Shape;289;p8"/>
          <p:cNvPicPr preferRelativeResize="0"/>
          <p:nvPr/>
        </p:nvPicPr>
        <p:blipFill>
          <a:blip r:embed="rId5">
            <a:alphaModFix/>
          </a:blip>
          <a:stretch>
            <a:fillRect/>
          </a:stretch>
        </p:blipFill>
        <p:spPr>
          <a:xfrm>
            <a:off x="7794250" y="0"/>
            <a:ext cx="4397749" cy="3675700"/>
          </a:xfrm>
          <a:prstGeom prst="rect">
            <a:avLst/>
          </a:prstGeom>
          <a:noFill/>
          <a:ln>
            <a:noFill/>
          </a:ln>
        </p:spPr>
      </p:pic>
      <p:pic>
        <p:nvPicPr>
          <p:cNvPr id="290" name="Google Shape;290;p8"/>
          <p:cNvPicPr preferRelativeResize="0"/>
          <p:nvPr/>
        </p:nvPicPr>
        <p:blipFill>
          <a:blip r:embed="rId6">
            <a:alphaModFix/>
          </a:blip>
          <a:stretch>
            <a:fillRect/>
          </a:stretch>
        </p:blipFill>
        <p:spPr>
          <a:xfrm>
            <a:off x="9191600" y="3675700"/>
            <a:ext cx="3000400" cy="31823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500"/>
                                        <p:tgtEl>
                                          <p:spTgt spid="285"/>
                                        </p:tgtEl>
                                        <p:attrNameLst>
                                          <p:attrName>ppt_w</p:attrName>
                                        </p:attrNameLst>
                                      </p:cBhvr>
                                      <p:tavLst>
                                        <p:tav fmla="" tm="0">
                                          <p:val>
                                            <p:strVal val="0"/>
                                          </p:val>
                                        </p:tav>
                                        <p:tav fmla="" tm="100000">
                                          <p:val>
                                            <p:strVal val="#ppt_w"/>
                                          </p:val>
                                        </p:tav>
                                      </p:tavLst>
                                    </p:anim>
                                    <p:anim calcmode="lin" valueType="num">
                                      <p:cBhvr additive="base">
                                        <p:cTn dur="500"/>
                                        <p:tgtEl>
                                          <p:spTgt spid="28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1000"/>
                                        <p:tgtEl>
                                          <p:spTgt spid="2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0" st="0"/>
                                            </p:txEl>
                                          </p:spTgt>
                                        </p:tgtEl>
                                        <p:attrNameLst>
                                          <p:attrName>style.visibility</p:attrName>
                                        </p:attrNameLst>
                                      </p:cBhvr>
                                      <p:to>
                                        <p:strVal val="visible"/>
                                      </p:to>
                                    </p:set>
                                    <p:animEffect filter="fade" transition="in">
                                      <p:cBhvr>
                                        <p:cTn dur="1000"/>
                                        <p:tgtEl>
                                          <p:spTgt spid="2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 st="1"/>
                                            </p:txEl>
                                          </p:spTgt>
                                        </p:tgtEl>
                                        <p:attrNameLst>
                                          <p:attrName>style.visibility</p:attrName>
                                        </p:attrNameLst>
                                      </p:cBhvr>
                                      <p:to>
                                        <p:strVal val="visible"/>
                                      </p:to>
                                    </p:set>
                                    <p:animEffect filter="fade" transition="in">
                                      <p:cBhvr>
                                        <p:cTn dur="1000"/>
                                        <p:tgtEl>
                                          <p:spTgt spid="2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2" st="2"/>
                                            </p:txEl>
                                          </p:spTgt>
                                        </p:tgtEl>
                                        <p:attrNameLst>
                                          <p:attrName>style.visibility</p:attrName>
                                        </p:attrNameLst>
                                      </p:cBhvr>
                                      <p:to>
                                        <p:strVal val="visible"/>
                                      </p:to>
                                    </p:set>
                                    <p:animEffect filter="fade" transition="in">
                                      <p:cBhvr>
                                        <p:cTn dur="1000"/>
                                        <p:tgtEl>
                                          <p:spTgt spid="2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3" st="3"/>
                                            </p:txEl>
                                          </p:spTgt>
                                        </p:tgtEl>
                                        <p:attrNameLst>
                                          <p:attrName>style.visibility</p:attrName>
                                        </p:attrNameLst>
                                      </p:cBhvr>
                                      <p:to>
                                        <p:strVal val="visible"/>
                                      </p:to>
                                    </p:set>
                                    <p:animEffect filter="fade" transition="in">
                                      <p:cBhvr>
                                        <p:cTn dur="1000"/>
                                        <p:tgtEl>
                                          <p:spTgt spid="2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4" st="4"/>
                                            </p:txEl>
                                          </p:spTgt>
                                        </p:tgtEl>
                                        <p:attrNameLst>
                                          <p:attrName>style.visibility</p:attrName>
                                        </p:attrNameLst>
                                      </p:cBhvr>
                                      <p:to>
                                        <p:strVal val="visible"/>
                                      </p:to>
                                    </p:set>
                                    <p:animEffect filter="fade" transition="in">
                                      <p:cBhvr>
                                        <p:cTn dur="1000"/>
                                        <p:tgtEl>
                                          <p:spTgt spid="2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5" st="5"/>
                                            </p:txEl>
                                          </p:spTgt>
                                        </p:tgtEl>
                                        <p:attrNameLst>
                                          <p:attrName>style.visibility</p:attrName>
                                        </p:attrNameLst>
                                      </p:cBhvr>
                                      <p:to>
                                        <p:strVal val="visible"/>
                                      </p:to>
                                    </p:set>
                                    <p:animEffect filter="fade" transition="in">
                                      <p:cBhvr>
                                        <p:cTn dur="1000"/>
                                        <p:tgtEl>
                                          <p:spTgt spid="287">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id="295" name="Google Shape;295;g3fa44e46628_1_42"/>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96" name="Google Shape;296;g3fa44e46628_1_42"/>
          <p:cNvSpPr txBox="1"/>
          <p:nvPr>
            <p:ph type="title"/>
          </p:nvPr>
        </p:nvSpPr>
        <p:spPr>
          <a:xfrm>
            <a:off x="1" y="0"/>
            <a:ext cx="5526600" cy="1437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4320"/>
              <a:buFont typeface="Trebuchet MS"/>
              <a:buNone/>
            </a:pPr>
            <a:r>
              <a:rPr lang="en-US" sz="4120">
                <a:latin typeface="Times New Roman"/>
                <a:ea typeface="Times New Roman"/>
                <a:cs typeface="Times New Roman"/>
                <a:sym typeface="Times New Roman"/>
              </a:rPr>
              <a:t>RESULTS-</a:t>
            </a:r>
            <a:endParaRPr sz="4120">
              <a:latin typeface="Times New Roman"/>
              <a:ea typeface="Times New Roman"/>
              <a:cs typeface="Times New Roman"/>
              <a:sym typeface="Times New Roman"/>
            </a:endParaRPr>
          </a:p>
          <a:p>
            <a:pPr indent="0" lvl="0" marL="0" rtl="0" algn="l">
              <a:spcBef>
                <a:spcPts val="0"/>
              </a:spcBef>
              <a:spcAft>
                <a:spcPts val="0"/>
              </a:spcAft>
              <a:buClr>
                <a:schemeClr val="dk1"/>
              </a:buClr>
              <a:buSzPts val="4320"/>
              <a:buFont typeface="Trebuchet MS"/>
              <a:buNone/>
            </a:pPr>
            <a:r>
              <a:rPr lang="en-US" sz="4120">
                <a:latin typeface="Times New Roman"/>
                <a:ea typeface="Times New Roman"/>
                <a:cs typeface="Times New Roman"/>
                <a:sym typeface="Times New Roman"/>
              </a:rPr>
              <a:t>RAINCLOUD/</a:t>
            </a:r>
            <a:r>
              <a:rPr lang="en-US" sz="4120">
                <a:latin typeface="Times New Roman"/>
                <a:ea typeface="Times New Roman"/>
                <a:cs typeface="Times New Roman"/>
                <a:sym typeface="Times New Roman"/>
              </a:rPr>
              <a:t>VIOLIN-</a:t>
            </a:r>
            <a:r>
              <a:rPr lang="en-US" sz="4120">
                <a:latin typeface="Times New Roman"/>
                <a:ea typeface="Times New Roman"/>
                <a:cs typeface="Times New Roman"/>
                <a:sym typeface="Times New Roman"/>
              </a:rPr>
              <a:t> BOX HYBRID PLOT</a:t>
            </a:r>
            <a:endParaRPr sz="4120">
              <a:latin typeface="Times New Roman"/>
              <a:ea typeface="Times New Roman"/>
              <a:cs typeface="Times New Roman"/>
              <a:sym typeface="Times New Roman"/>
            </a:endParaRPr>
          </a:p>
        </p:txBody>
      </p:sp>
      <p:sp>
        <p:nvSpPr>
          <p:cNvPr id="297" name="Google Shape;297;g3fa44e46628_1_42"/>
          <p:cNvSpPr txBox="1"/>
          <p:nvPr>
            <p:ph idx="1" type="body"/>
          </p:nvPr>
        </p:nvSpPr>
        <p:spPr>
          <a:xfrm>
            <a:off x="116350" y="2072450"/>
            <a:ext cx="5260800" cy="4592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latin typeface="Times New Roman"/>
                <a:ea typeface="Times New Roman"/>
                <a:cs typeface="Times New Roman"/>
                <a:sym typeface="Times New Roman"/>
              </a:rPr>
              <a:t>Rain-Cloud</a:t>
            </a:r>
            <a:r>
              <a:rPr lang="en-US">
                <a:latin typeface="Times New Roman"/>
                <a:ea typeface="Times New Roman"/>
                <a:cs typeface="Times New Roman"/>
                <a:sym typeface="Times New Roman"/>
              </a:rPr>
              <a:t>/Violin-Box Hybrid plot is used to show the distribution,density,spread, and outliers of numerical data across different groups.Here the graph shows the following:</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Compares profit distribution for Kharif,Rabi and Zaid agricultural seasons.</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The key insight is that Kharif shows the widest profit distribution,while Zaid has a comparatively lower range.</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Overall the plot provides a detailed </a:t>
            </a:r>
            <a:r>
              <a:rPr lang="en-US">
                <a:latin typeface="Times New Roman"/>
                <a:ea typeface="Times New Roman"/>
                <a:cs typeface="Times New Roman"/>
                <a:sym typeface="Times New Roman"/>
              </a:rPr>
              <a:t>view</a:t>
            </a:r>
            <a:r>
              <a:rPr lang="en-US">
                <a:latin typeface="Times New Roman"/>
                <a:ea typeface="Times New Roman"/>
                <a:cs typeface="Times New Roman"/>
                <a:sym typeface="Times New Roman"/>
              </a:rPr>
              <a:t> on both the central tendency and variation in profits across seasons.</a:t>
            </a:r>
            <a:endParaRPr>
              <a:latin typeface="Times New Roman"/>
              <a:ea typeface="Times New Roman"/>
              <a:cs typeface="Times New Roman"/>
              <a:sym typeface="Times New Roman"/>
            </a:endParaRPr>
          </a:p>
        </p:txBody>
      </p:sp>
      <p:pic>
        <p:nvPicPr>
          <p:cNvPr id="298" name="Google Shape;298;g3fa44e46628_1_42"/>
          <p:cNvPicPr preferRelativeResize="0"/>
          <p:nvPr/>
        </p:nvPicPr>
        <p:blipFill>
          <a:blip r:embed="rId4">
            <a:alphaModFix/>
          </a:blip>
          <a:stretch>
            <a:fillRect/>
          </a:stretch>
        </p:blipFill>
        <p:spPr>
          <a:xfrm>
            <a:off x="5526550" y="0"/>
            <a:ext cx="6665450" cy="68579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6"/>
                                        </p:tgtEl>
                                        <p:attrNameLst>
                                          <p:attrName>style.visibility</p:attrName>
                                        </p:attrNameLst>
                                      </p:cBhvr>
                                      <p:to>
                                        <p:strVal val="visible"/>
                                      </p:to>
                                    </p:set>
                                    <p:anim calcmode="lin" valueType="num">
                                      <p:cBhvr additive="base">
                                        <p:cTn dur="500"/>
                                        <p:tgtEl>
                                          <p:spTgt spid="296"/>
                                        </p:tgtEl>
                                        <p:attrNameLst>
                                          <p:attrName>ppt_w</p:attrName>
                                        </p:attrNameLst>
                                      </p:cBhvr>
                                      <p:tavLst>
                                        <p:tav fmla="" tm="0">
                                          <p:val>
                                            <p:strVal val="0"/>
                                          </p:val>
                                        </p:tav>
                                        <p:tav fmla="" tm="100000">
                                          <p:val>
                                            <p:strVal val="#ppt_w"/>
                                          </p:val>
                                        </p:tav>
                                      </p:tavLst>
                                    </p:anim>
                                    <p:anim calcmode="lin" valueType="num">
                                      <p:cBhvr additive="base">
                                        <p:cTn dur="500"/>
                                        <p:tgtEl>
                                          <p:spTgt spid="29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0" st="0"/>
                                            </p:txEl>
                                          </p:spTgt>
                                        </p:tgtEl>
                                        <p:attrNameLst>
                                          <p:attrName>style.visibility</p:attrName>
                                        </p:attrNameLst>
                                      </p:cBhvr>
                                      <p:to>
                                        <p:strVal val="visible"/>
                                      </p:to>
                                    </p:set>
                                    <p:animEffect filter="fade" transition="in">
                                      <p:cBhvr>
                                        <p:cTn dur="1000"/>
                                        <p:tgtEl>
                                          <p:spTgt spid="2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1" st="1"/>
                                            </p:txEl>
                                          </p:spTgt>
                                        </p:tgtEl>
                                        <p:attrNameLst>
                                          <p:attrName>style.visibility</p:attrName>
                                        </p:attrNameLst>
                                      </p:cBhvr>
                                      <p:to>
                                        <p:strVal val="visible"/>
                                      </p:to>
                                    </p:set>
                                    <p:animEffect filter="fade" transition="in">
                                      <p:cBhvr>
                                        <p:cTn dur="1000"/>
                                        <p:tgtEl>
                                          <p:spTgt spid="2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2" st="2"/>
                                            </p:txEl>
                                          </p:spTgt>
                                        </p:tgtEl>
                                        <p:attrNameLst>
                                          <p:attrName>style.visibility</p:attrName>
                                        </p:attrNameLst>
                                      </p:cBhvr>
                                      <p:to>
                                        <p:strVal val="visible"/>
                                      </p:to>
                                    </p:set>
                                    <p:animEffect filter="fade" transition="in">
                                      <p:cBhvr>
                                        <p:cTn dur="1000"/>
                                        <p:tgtEl>
                                          <p:spTgt spid="2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3" st="3"/>
                                            </p:txEl>
                                          </p:spTgt>
                                        </p:tgtEl>
                                        <p:attrNameLst>
                                          <p:attrName>style.visibility</p:attrName>
                                        </p:attrNameLst>
                                      </p:cBhvr>
                                      <p:to>
                                        <p:strVal val="visible"/>
                                      </p:to>
                                    </p:set>
                                    <p:animEffect filter="fade" transition="in">
                                      <p:cBhvr>
                                        <p:cTn dur="1000"/>
                                        <p:tgtEl>
                                          <p:spTgt spid="29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p10"/>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04" name="Google Shape;304;p10"/>
          <p:cNvSpPr txBox="1"/>
          <p:nvPr>
            <p:ph type="title"/>
          </p:nvPr>
        </p:nvSpPr>
        <p:spPr>
          <a:xfrm>
            <a:off x="-49650" y="0"/>
            <a:ext cx="5316000" cy="141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320"/>
              <a:buFont typeface="Trebuchet MS"/>
              <a:buNone/>
            </a:pPr>
            <a:r>
              <a:rPr lang="en-US" sz="4120">
                <a:latin typeface="Times New Roman"/>
                <a:ea typeface="Times New Roman"/>
                <a:cs typeface="Times New Roman"/>
                <a:sym typeface="Times New Roman"/>
              </a:rPr>
              <a:t>RESULTS-SCATTER PLOT &amp; PAIR PLOT </a:t>
            </a:r>
            <a:endParaRPr sz="4120">
              <a:latin typeface="Times New Roman"/>
              <a:ea typeface="Times New Roman"/>
              <a:cs typeface="Times New Roman"/>
              <a:sym typeface="Times New Roman"/>
            </a:endParaRPr>
          </a:p>
        </p:txBody>
      </p:sp>
      <p:sp>
        <p:nvSpPr>
          <p:cNvPr id="305" name="Google Shape;305;p10"/>
          <p:cNvSpPr txBox="1"/>
          <p:nvPr>
            <p:ph idx="1" type="body"/>
          </p:nvPr>
        </p:nvSpPr>
        <p:spPr>
          <a:xfrm>
            <a:off x="203700" y="1346100"/>
            <a:ext cx="4809300" cy="5511900"/>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SzPts val="1600"/>
              <a:buNone/>
            </a:pPr>
            <a:r>
              <a:rPr lang="en-US">
                <a:latin typeface="Times New Roman"/>
                <a:ea typeface="Times New Roman"/>
                <a:cs typeface="Times New Roman"/>
                <a:sym typeface="Times New Roman"/>
              </a:rPr>
              <a:t>Scatter plot is used to study the relationship between two numerical variables, while a pair plot shows </a:t>
            </a:r>
            <a:r>
              <a:rPr lang="en-US">
                <a:latin typeface="Times New Roman"/>
                <a:ea typeface="Times New Roman"/>
                <a:cs typeface="Times New Roman"/>
                <a:sym typeface="Times New Roman"/>
              </a:rPr>
              <a:t>relationships</a:t>
            </a:r>
            <a:r>
              <a:rPr lang="en-US">
                <a:latin typeface="Times New Roman"/>
                <a:ea typeface="Times New Roman"/>
                <a:cs typeface="Times New Roman"/>
                <a:sym typeface="Times New Roman"/>
              </a:rPr>
              <a:t> and distribution among multiple numerical variables at once.The following graphs here show that:</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It examines how rainfall relates to crop </a:t>
            </a:r>
            <a:r>
              <a:rPr lang="en-US">
                <a:latin typeface="Times New Roman"/>
                <a:ea typeface="Times New Roman"/>
                <a:cs typeface="Times New Roman"/>
                <a:sym typeface="Times New Roman"/>
              </a:rPr>
              <a:t>yield</a:t>
            </a:r>
            <a:r>
              <a:rPr lang="en-US">
                <a:latin typeface="Times New Roman"/>
                <a:ea typeface="Times New Roman"/>
                <a:cs typeface="Times New Roman"/>
                <a:sym typeface="Times New Roman"/>
              </a:rPr>
              <a:t> </a:t>
            </a:r>
            <a:r>
              <a:rPr lang="en-US">
                <a:latin typeface="Times New Roman"/>
                <a:ea typeface="Times New Roman"/>
                <a:cs typeface="Times New Roman"/>
                <a:sym typeface="Times New Roman"/>
              </a:rPr>
              <a:t>across</a:t>
            </a:r>
            <a:r>
              <a:rPr lang="en-US">
                <a:latin typeface="Times New Roman"/>
                <a:ea typeface="Times New Roman"/>
                <a:cs typeface="Times New Roman"/>
                <a:sym typeface="Times New Roman"/>
              </a:rPr>
              <a:t> different </a:t>
            </a:r>
            <a:r>
              <a:rPr lang="en-US">
                <a:latin typeface="Times New Roman"/>
                <a:ea typeface="Times New Roman"/>
                <a:cs typeface="Times New Roman"/>
                <a:sym typeface="Times New Roman"/>
              </a:rPr>
              <a:t>seasons</a:t>
            </a:r>
            <a:r>
              <a:rPr lang="en-US">
                <a:latin typeface="Times New Roman"/>
                <a:ea typeface="Times New Roman"/>
                <a:cs typeface="Times New Roman"/>
                <a:sym typeface="Times New Roman"/>
              </a:rPr>
              <a:t> and irrigation methods.</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It compares farm area and production and indicates a positive relationship and shows large farm areas generally correspond to higher production.</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Pair plot provides an overall view of relationships among rainfall,humidity,yield,profit,and other key variables,helping identify patterns and correlations</a:t>
            </a:r>
            <a:endParaRPr>
              <a:latin typeface="Times New Roman"/>
              <a:ea typeface="Times New Roman"/>
              <a:cs typeface="Times New Roman"/>
              <a:sym typeface="Times New Roman"/>
            </a:endParaRPr>
          </a:p>
          <a:p>
            <a:pPr indent="0" lvl="0" marL="0" rtl="0" algn="l">
              <a:spcBef>
                <a:spcPts val="0"/>
              </a:spcBef>
              <a:spcAft>
                <a:spcPts val="0"/>
              </a:spcAft>
              <a:buNone/>
            </a:pPr>
            <a:r>
              <a:rPr lang="en-US">
                <a:latin typeface="Times New Roman"/>
                <a:ea typeface="Times New Roman"/>
                <a:cs typeface="Times New Roman"/>
                <a:sym typeface="Times New Roman"/>
              </a:rPr>
              <a:t>Note: Scatter plots and pair plots are used at various stages of the analysis; the visuals shown here represent only a few examples from the overall analysis.</a:t>
            </a:r>
            <a:endParaRPr>
              <a:latin typeface="Times New Roman"/>
              <a:ea typeface="Times New Roman"/>
              <a:cs typeface="Times New Roman"/>
              <a:sym typeface="Times New Roman"/>
            </a:endParaRPr>
          </a:p>
        </p:txBody>
      </p:sp>
      <p:pic>
        <p:nvPicPr>
          <p:cNvPr id="306" name="Google Shape;306;p10"/>
          <p:cNvPicPr preferRelativeResize="0"/>
          <p:nvPr/>
        </p:nvPicPr>
        <p:blipFill>
          <a:blip r:embed="rId4">
            <a:alphaModFix/>
          </a:blip>
          <a:stretch>
            <a:fillRect/>
          </a:stretch>
        </p:blipFill>
        <p:spPr>
          <a:xfrm>
            <a:off x="5114250" y="0"/>
            <a:ext cx="7077750" cy="2972575"/>
          </a:xfrm>
          <a:prstGeom prst="rect">
            <a:avLst/>
          </a:prstGeom>
          <a:noFill/>
          <a:ln>
            <a:noFill/>
          </a:ln>
        </p:spPr>
      </p:pic>
      <p:pic>
        <p:nvPicPr>
          <p:cNvPr id="307" name="Google Shape;307;p10"/>
          <p:cNvPicPr preferRelativeResize="0"/>
          <p:nvPr/>
        </p:nvPicPr>
        <p:blipFill>
          <a:blip r:embed="rId5">
            <a:alphaModFix/>
          </a:blip>
          <a:stretch>
            <a:fillRect/>
          </a:stretch>
        </p:blipFill>
        <p:spPr>
          <a:xfrm>
            <a:off x="5114250" y="2972568"/>
            <a:ext cx="4809451" cy="3920531"/>
          </a:xfrm>
          <a:prstGeom prst="rect">
            <a:avLst/>
          </a:prstGeom>
          <a:noFill/>
          <a:ln>
            <a:noFill/>
          </a:ln>
        </p:spPr>
      </p:pic>
      <p:pic>
        <p:nvPicPr>
          <p:cNvPr id="308" name="Google Shape;308;p10"/>
          <p:cNvPicPr preferRelativeResize="0"/>
          <p:nvPr/>
        </p:nvPicPr>
        <p:blipFill>
          <a:blip r:embed="rId6">
            <a:alphaModFix/>
          </a:blip>
          <a:stretch>
            <a:fillRect/>
          </a:stretch>
        </p:blipFill>
        <p:spPr>
          <a:xfrm>
            <a:off x="9923700" y="2972575"/>
            <a:ext cx="2316974" cy="392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4"/>
                                        </p:tgtEl>
                                        <p:attrNameLst>
                                          <p:attrName>style.visibility</p:attrName>
                                        </p:attrNameLst>
                                      </p:cBhvr>
                                      <p:to>
                                        <p:strVal val="visible"/>
                                      </p:to>
                                    </p:set>
                                    <p:anim calcmode="lin" valueType="num">
                                      <p:cBhvr additive="base">
                                        <p:cTn dur="500"/>
                                        <p:tgtEl>
                                          <p:spTgt spid="304"/>
                                        </p:tgtEl>
                                        <p:attrNameLst>
                                          <p:attrName>ppt_w</p:attrName>
                                        </p:attrNameLst>
                                      </p:cBhvr>
                                      <p:tavLst>
                                        <p:tav fmla="" tm="0">
                                          <p:val>
                                            <p:strVal val="0"/>
                                          </p:val>
                                        </p:tav>
                                        <p:tav fmla="" tm="100000">
                                          <p:val>
                                            <p:strVal val="#ppt_w"/>
                                          </p:val>
                                        </p:tav>
                                      </p:tavLst>
                                    </p:anim>
                                    <p:anim calcmode="lin" valueType="num">
                                      <p:cBhvr additive="base">
                                        <p:cTn dur="500"/>
                                        <p:tgtEl>
                                          <p:spTgt spid="30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xEl>
                                              <p:pRg end="0" st="0"/>
                                            </p:txEl>
                                          </p:spTgt>
                                        </p:tgtEl>
                                        <p:attrNameLst>
                                          <p:attrName>style.visibility</p:attrName>
                                        </p:attrNameLst>
                                      </p:cBhvr>
                                      <p:to>
                                        <p:strVal val="visible"/>
                                      </p:to>
                                    </p:set>
                                    <p:animEffect filter="fade" transition="in">
                                      <p:cBhvr>
                                        <p:cTn dur="1000"/>
                                        <p:tgtEl>
                                          <p:spTgt spid="3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xEl>
                                              <p:pRg end="1" st="1"/>
                                            </p:txEl>
                                          </p:spTgt>
                                        </p:tgtEl>
                                        <p:attrNameLst>
                                          <p:attrName>style.visibility</p:attrName>
                                        </p:attrNameLst>
                                      </p:cBhvr>
                                      <p:to>
                                        <p:strVal val="visible"/>
                                      </p:to>
                                    </p:set>
                                    <p:animEffect filter="fade" transition="in">
                                      <p:cBhvr>
                                        <p:cTn dur="1000"/>
                                        <p:tgtEl>
                                          <p:spTgt spid="3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xEl>
                                              <p:pRg end="2" st="2"/>
                                            </p:txEl>
                                          </p:spTgt>
                                        </p:tgtEl>
                                        <p:attrNameLst>
                                          <p:attrName>style.visibility</p:attrName>
                                        </p:attrNameLst>
                                      </p:cBhvr>
                                      <p:to>
                                        <p:strVal val="visible"/>
                                      </p:to>
                                    </p:set>
                                    <p:animEffect filter="fade" transition="in">
                                      <p:cBhvr>
                                        <p:cTn dur="1000"/>
                                        <p:tgtEl>
                                          <p:spTgt spid="3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xEl>
                                              <p:pRg end="3" st="3"/>
                                            </p:txEl>
                                          </p:spTgt>
                                        </p:tgtEl>
                                        <p:attrNameLst>
                                          <p:attrName>style.visibility</p:attrName>
                                        </p:attrNameLst>
                                      </p:cBhvr>
                                      <p:to>
                                        <p:strVal val="visible"/>
                                      </p:to>
                                    </p:set>
                                    <p:animEffect filter="fade" transition="in">
                                      <p:cBhvr>
                                        <p:cTn dur="1000"/>
                                        <p:tgtEl>
                                          <p:spTgt spid="30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xEl>
                                              <p:pRg end="4" st="4"/>
                                            </p:txEl>
                                          </p:spTgt>
                                        </p:tgtEl>
                                        <p:attrNameLst>
                                          <p:attrName>style.visibility</p:attrName>
                                        </p:attrNameLst>
                                      </p:cBhvr>
                                      <p:to>
                                        <p:strVal val="visible"/>
                                      </p:to>
                                    </p:set>
                                    <p:animEffect filter="fade" transition="in">
                                      <p:cBhvr>
                                        <p:cTn dur="1000"/>
                                        <p:tgtEl>
                                          <p:spTgt spid="30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g3fa44e46628_1_20"/>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14" name="Google Shape;314;g3fa44e46628_1_20"/>
          <p:cNvSpPr txBox="1"/>
          <p:nvPr>
            <p:ph type="title"/>
          </p:nvPr>
        </p:nvSpPr>
        <p:spPr>
          <a:xfrm>
            <a:off x="41426" y="0"/>
            <a:ext cx="5806500" cy="8310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latin typeface="Times New Roman"/>
                <a:ea typeface="Times New Roman"/>
                <a:cs typeface="Times New Roman"/>
                <a:sym typeface="Times New Roman"/>
              </a:rPr>
              <a:t>RESULTS-HEATMAP </a:t>
            </a:r>
            <a:endParaRPr>
              <a:latin typeface="Times New Roman"/>
              <a:ea typeface="Times New Roman"/>
              <a:cs typeface="Times New Roman"/>
              <a:sym typeface="Times New Roman"/>
            </a:endParaRPr>
          </a:p>
        </p:txBody>
      </p:sp>
      <p:sp>
        <p:nvSpPr>
          <p:cNvPr id="315" name="Google Shape;315;g3fa44e46628_1_20"/>
          <p:cNvSpPr txBox="1"/>
          <p:nvPr/>
        </p:nvSpPr>
        <p:spPr>
          <a:xfrm>
            <a:off x="320982"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16" name="Google Shape;316;g3fa44e46628_1_20"/>
          <p:cNvSpPr txBox="1"/>
          <p:nvPr/>
        </p:nvSpPr>
        <p:spPr>
          <a:xfrm>
            <a:off x="4345694"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17" name="Google Shape;317;g3fa44e46628_1_20"/>
          <p:cNvSpPr txBox="1"/>
          <p:nvPr>
            <p:ph idx="1" type="body"/>
          </p:nvPr>
        </p:nvSpPr>
        <p:spPr>
          <a:xfrm>
            <a:off x="70700" y="831025"/>
            <a:ext cx="5982900" cy="27912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1600"/>
              <a:buNone/>
            </a:pPr>
            <a:r>
              <a:rPr lang="en-US">
                <a:latin typeface="Times New Roman"/>
                <a:ea typeface="Times New Roman"/>
                <a:cs typeface="Times New Roman"/>
                <a:sym typeface="Times New Roman"/>
              </a:rPr>
              <a:t>Heatmap is used to visualize the strength and direction of correlations between numerical values.Here the graph represents:</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Correlation matrix which highlights relationships among rainfall,yield,production,revenue,profit and other variables.</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Key insights which show the </a:t>
            </a:r>
            <a:r>
              <a:rPr lang="en-US">
                <a:latin typeface="Times New Roman"/>
                <a:ea typeface="Times New Roman"/>
                <a:cs typeface="Times New Roman"/>
                <a:sym typeface="Times New Roman"/>
              </a:rPr>
              <a:t>yield</a:t>
            </a:r>
            <a:r>
              <a:rPr lang="en-US">
                <a:latin typeface="Times New Roman"/>
                <a:ea typeface="Times New Roman"/>
                <a:cs typeface="Times New Roman"/>
                <a:sym typeface="Times New Roman"/>
              </a:rPr>
              <a:t> and production, as well as revenue and profit, also showcasing strong positive relationships.</a:t>
            </a:r>
            <a:endParaRPr>
              <a:latin typeface="Times New Roman"/>
              <a:ea typeface="Times New Roman"/>
              <a:cs typeface="Times New Roman"/>
              <a:sym typeface="Times New Roman"/>
            </a:endParaRPr>
          </a:p>
        </p:txBody>
      </p:sp>
      <p:pic>
        <p:nvPicPr>
          <p:cNvPr id="318" name="Google Shape;318;g3fa44e46628_1_20"/>
          <p:cNvPicPr preferRelativeResize="0"/>
          <p:nvPr/>
        </p:nvPicPr>
        <p:blipFill>
          <a:blip r:embed="rId4">
            <a:alphaModFix/>
          </a:blip>
          <a:stretch>
            <a:fillRect/>
          </a:stretch>
        </p:blipFill>
        <p:spPr>
          <a:xfrm>
            <a:off x="0" y="3774775"/>
            <a:ext cx="5983024" cy="3158224"/>
          </a:xfrm>
          <a:prstGeom prst="rect">
            <a:avLst/>
          </a:prstGeom>
          <a:noFill/>
          <a:ln>
            <a:noFill/>
          </a:ln>
        </p:spPr>
      </p:pic>
      <p:pic>
        <p:nvPicPr>
          <p:cNvPr id="319" name="Google Shape;319;g3fa44e46628_1_20"/>
          <p:cNvPicPr preferRelativeResize="0"/>
          <p:nvPr/>
        </p:nvPicPr>
        <p:blipFill>
          <a:blip r:embed="rId5">
            <a:alphaModFix/>
          </a:blip>
          <a:stretch>
            <a:fillRect/>
          </a:stretch>
        </p:blipFill>
        <p:spPr>
          <a:xfrm>
            <a:off x="5983025" y="0"/>
            <a:ext cx="6195675" cy="68579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14"/>
                                        </p:tgtEl>
                                        <p:attrNameLst>
                                          <p:attrName>style.visibility</p:attrName>
                                        </p:attrNameLst>
                                      </p:cBhvr>
                                      <p:to>
                                        <p:strVal val="visible"/>
                                      </p:to>
                                    </p:set>
                                    <p:anim calcmode="lin" valueType="num">
                                      <p:cBhvr additive="base">
                                        <p:cTn dur="500"/>
                                        <p:tgtEl>
                                          <p:spTgt spid="314"/>
                                        </p:tgtEl>
                                        <p:attrNameLst>
                                          <p:attrName>ppt_w</p:attrName>
                                        </p:attrNameLst>
                                      </p:cBhvr>
                                      <p:tavLst>
                                        <p:tav fmla="" tm="0">
                                          <p:val>
                                            <p:strVal val="0"/>
                                          </p:val>
                                        </p:tav>
                                        <p:tav fmla="" tm="100000">
                                          <p:val>
                                            <p:strVal val="#ppt_w"/>
                                          </p:val>
                                        </p:tav>
                                      </p:tavLst>
                                    </p:anim>
                                    <p:anim calcmode="lin" valueType="num">
                                      <p:cBhvr additive="base">
                                        <p:cTn dur="500"/>
                                        <p:tgtEl>
                                          <p:spTgt spid="31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0" st="0"/>
                                            </p:txEl>
                                          </p:spTgt>
                                        </p:tgtEl>
                                        <p:attrNameLst>
                                          <p:attrName>style.visibility</p:attrName>
                                        </p:attrNameLst>
                                      </p:cBhvr>
                                      <p:to>
                                        <p:strVal val="visible"/>
                                      </p:to>
                                    </p:set>
                                    <p:animEffect filter="fade" transition="in">
                                      <p:cBhvr>
                                        <p:cTn dur="1000"/>
                                        <p:tgtEl>
                                          <p:spTgt spid="3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1" st="1"/>
                                            </p:txEl>
                                          </p:spTgt>
                                        </p:tgtEl>
                                        <p:attrNameLst>
                                          <p:attrName>style.visibility</p:attrName>
                                        </p:attrNameLst>
                                      </p:cBhvr>
                                      <p:to>
                                        <p:strVal val="visible"/>
                                      </p:to>
                                    </p:set>
                                    <p:animEffect filter="fade" transition="in">
                                      <p:cBhvr>
                                        <p:cTn dur="1000"/>
                                        <p:tgtEl>
                                          <p:spTgt spid="3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2" st="2"/>
                                            </p:txEl>
                                          </p:spTgt>
                                        </p:tgtEl>
                                        <p:attrNameLst>
                                          <p:attrName>style.visibility</p:attrName>
                                        </p:attrNameLst>
                                      </p:cBhvr>
                                      <p:to>
                                        <p:strVal val="visible"/>
                                      </p:to>
                                    </p:set>
                                    <p:animEffect filter="fade" transition="in">
                                      <p:cBhvr>
                                        <p:cTn dur="1000"/>
                                        <p:tgtEl>
                                          <p:spTgt spid="31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g3fa44e46628_1_32"/>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25" name="Google Shape;325;g3fa44e46628_1_32"/>
          <p:cNvSpPr txBox="1"/>
          <p:nvPr>
            <p:ph type="title"/>
          </p:nvPr>
        </p:nvSpPr>
        <p:spPr>
          <a:xfrm>
            <a:off x="0" y="0"/>
            <a:ext cx="5227800" cy="17766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latin typeface="Times New Roman"/>
                <a:ea typeface="Times New Roman"/>
                <a:cs typeface="Times New Roman"/>
                <a:sym typeface="Times New Roman"/>
              </a:rPr>
              <a:t>RESULTS- </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rebuchet MS"/>
              <a:buNone/>
            </a:pPr>
            <a:r>
              <a:rPr lang="en-US">
                <a:latin typeface="Times New Roman"/>
                <a:ea typeface="Times New Roman"/>
                <a:cs typeface="Times New Roman"/>
                <a:sym typeface="Times New Roman"/>
              </a:rPr>
              <a:t>HORIZONTAL BAR</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rebuchet MS"/>
              <a:buNone/>
            </a:pPr>
            <a:r>
              <a:rPr lang="en-US">
                <a:latin typeface="Times New Roman"/>
                <a:ea typeface="Times New Roman"/>
                <a:cs typeface="Times New Roman"/>
                <a:sym typeface="Times New Roman"/>
              </a:rPr>
              <a:t>GRAPHS</a:t>
            </a:r>
            <a:endParaRPr>
              <a:latin typeface="Times New Roman"/>
              <a:ea typeface="Times New Roman"/>
              <a:cs typeface="Times New Roman"/>
              <a:sym typeface="Times New Roman"/>
            </a:endParaRPr>
          </a:p>
        </p:txBody>
      </p:sp>
      <p:sp>
        <p:nvSpPr>
          <p:cNvPr id="326" name="Google Shape;326;g3fa44e46628_1_32"/>
          <p:cNvSpPr txBox="1"/>
          <p:nvPr/>
        </p:nvSpPr>
        <p:spPr>
          <a:xfrm>
            <a:off x="4345694"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27" name="Google Shape;327;g3fa44e46628_1_32"/>
          <p:cNvSpPr txBox="1"/>
          <p:nvPr>
            <p:ph idx="1" type="body"/>
          </p:nvPr>
        </p:nvSpPr>
        <p:spPr>
          <a:xfrm>
            <a:off x="0" y="2009100"/>
            <a:ext cx="5227800" cy="465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latin typeface="Times New Roman"/>
                <a:ea typeface="Times New Roman"/>
                <a:cs typeface="Times New Roman"/>
                <a:sym typeface="Times New Roman"/>
              </a:rPr>
              <a:t>Horizontal bar graphs is used to compare values across categories clearly, especially when category names are longer.</a:t>
            </a:r>
            <a:r>
              <a:rPr lang="en-US">
                <a:latin typeface="Times New Roman"/>
                <a:ea typeface="Times New Roman"/>
                <a:cs typeface="Times New Roman"/>
                <a:sym typeface="Times New Roman"/>
              </a:rPr>
              <a:t>The graph here showcases the following:</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Compares the percentage of profitable and loss-making farms for each crop.</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Cultivation records by crop shows the number of records for each crop, with Rice having the highest representation.</a:t>
            </a:r>
            <a:endParaRPr>
              <a:latin typeface="Times New Roman"/>
              <a:ea typeface="Times New Roman"/>
              <a:cs typeface="Times New Roman"/>
              <a:sym typeface="Times New Roman"/>
            </a:endParaRPr>
          </a:p>
          <a:p>
            <a:pPr indent="0" lvl="0" marL="457200" rtl="0" algn="l">
              <a:spcBef>
                <a:spcPts val="0"/>
              </a:spcBef>
              <a:spcAft>
                <a:spcPts val="0"/>
              </a:spcAft>
              <a:buNone/>
            </a:pPr>
            <a:r>
              <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Note: Horizontal bar graphs are used at different stages of the analysis; these are only a few selected examples.</a:t>
            </a:r>
            <a:endParaRPr>
              <a:latin typeface="Times New Roman"/>
              <a:ea typeface="Times New Roman"/>
              <a:cs typeface="Times New Roman"/>
              <a:sym typeface="Times New Roman"/>
            </a:endParaRPr>
          </a:p>
        </p:txBody>
      </p:sp>
      <p:pic>
        <p:nvPicPr>
          <p:cNvPr id="328" name="Google Shape;328;g3fa44e46628_1_32"/>
          <p:cNvPicPr preferRelativeResize="0"/>
          <p:nvPr/>
        </p:nvPicPr>
        <p:blipFill>
          <a:blip r:embed="rId4">
            <a:alphaModFix/>
          </a:blip>
          <a:stretch>
            <a:fillRect/>
          </a:stretch>
        </p:blipFill>
        <p:spPr>
          <a:xfrm>
            <a:off x="5361325" y="0"/>
            <a:ext cx="6830674" cy="4387626"/>
          </a:xfrm>
          <a:prstGeom prst="rect">
            <a:avLst/>
          </a:prstGeom>
          <a:noFill/>
          <a:ln>
            <a:noFill/>
          </a:ln>
        </p:spPr>
      </p:pic>
      <p:pic>
        <p:nvPicPr>
          <p:cNvPr id="329" name="Google Shape;329;g3fa44e46628_1_32"/>
          <p:cNvPicPr preferRelativeResize="0"/>
          <p:nvPr/>
        </p:nvPicPr>
        <p:blipFill>
          <a:blip r:embed="rId5">
            <a:alphaModFix/>
          </a:blip>
          <a:stretch>
            <a:fillRect/>
          </a:stretch>
        </p:blipFill>
        <p:spPr>
          <a:xfrm>
            <a:off x="5361325" y="4387625"/>
            <a:ext cx="6830674" cy="24703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5"/>
                                        </p:tgtEl>
                                        <p:attrNameLst>
                                          <p:attrName>style.visibility</p:attrName>
                                        </p:attrNameLst>
                                      </p:cBhvr>
                                      <p:to>
                                        <p:strVal val="visible"/>
                                      </p:to>
                                    </p:set>
                                    <p:anim calcmode="lin" valueType="num">
                                      <p:cBhvr additive="base">
                                        <p:cTn dur="500"/>
                                        <p:tgtEl>
                                          <p:spTgt spid="325"/>
                                        </p:tgtEl>
                                        <p:attrNameLst>
                                          <p:attrName>ppt_w</p:attrName>
                                        </p:attrNameLst>
                                      </p:cBhvr>
                                      <p:tavLst>
                                        <p:tav fmla="" tm="0">
                                          <p:val>
                                            <p:strVal val="0"/>
                                          </p:val>
                                        </p:tav>
                                        <p:tav fmla="" tm="100000">
                                          <p:val>
                                            <p:strVal val="#ppt_w"/>
                                          </p:val>
                                        </p:tav>
                                      </p:tavLst>
                                    </p:anim>
                                    <p:anim calcmode="lin" valueType="num">
                                      <p:cBhvr additive="base">
                                        <p:cTn dur="500"/>
                                        <p:tgtEl>
                                          <p:spTgt spid="32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1000"/>
                                        <p:tgtEl>
                                          <p:spTgt spid="3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xEl>
                                              <p:pRg end="0" st="0"/>
                                            </p:txEl>
                                          </p:spTgt>
                                        </p:tgtEl>
                                        <p:attrNameLst>
                                          <p:attrName>style.visibility</p:attrName>
                                        </p:attrNameLst>
                                      </p:cBhvr>
                                      <p:to>
                                        <p:strVal val="visible"/>
                                      </p:to>
                                    </p:set>
                                    <p:animEffect filter="fade" transition="in">
                                      <p:cBhvr>
                                        <p:cTn dur="1000"/>
                                        <p:tgtEl>
                                          <p:spTgt spid="3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xEl>
                                              <p:pRg end="1" st="1"/>
                                            </p:txEl>
                                          </p:spTgt>
                                        </p:tgtEl>
                                        <p:attrNameLst>
                                          <p:attrName>style.visibility</p:attrName>
                                        </p:attrNameLst>
                                      </p:cBhvr>
                                      <p:to>
                                        <p:strVal val="visible"/>
                                      </p:to>
                                    </p:set>
                                    <p:animEffect filter="fade" transition="in">
                                      <p:cBhvr>
                                        <p:cTn dur="1000"/>
                                        <p:tgtEl>
                                          <p:spTgt spid="3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xEl>
                                              <p:pRg end="2" st="2"/>
                                            </p:txEl>
                                          </p:spTgt>
                                        </p:tgtEl>
                                        <p:attrNameLst>
                                          <p:attrName>style.visibility</p:attrName>
                                        </p:attrNameLst>
                                      </p:cBhvr>
                                      <p:to>
                                        <p:strVal val="visible"/>
                                      </p:to>
                                    </p:set>
                                    <p:animEffect filter="fade" transition="in">
                                      <p:cBhvr>
                                        <p:cTn dur="1000"/>
                                        <p:tgtEl>
                                          <p:spTgt spid="32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xEl>
                                              <p:pRg end="3" st="3"/>
                                            </p:txEl>
                                          </p:spTgt>
                                        </p:tgtEl>
                                        <p:attrNameLst>
                                          <p:attrName>style.visibility</p:attrName>
                                        </p:attrNameLst>
                                      </p:cBhvr>
                                      <p:to>
                                        <p:strVal val="visible"/>
                                      </p:to>
                                    </p:set>
                                    <p:animEffect filter="fade" transition="in">
                                      <p:cBhvr>
                                        <p:cTn dur="1000"/>
                                        <p:tgtEl>
                                          <p:spTgt spid="32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xEl>
                                              <p:pRg end="4" st="4"/>
                                            </p:txEl>
                                          </p:spTgt>
                                        </p:tgtEl>
                                        <p:attrNameLst>
                                          <p:attrName>style.visibility</p:attrName>
                                        </p:attrNameLst>
                                      </p:cBhvr>
                                      <p:to>
                                        <p:strVal val="visible"/>
                                      </p:to>
                                    </p:set>
                                    <p:animEffect filter="fade" transition="in">
                                      <p:cBhvr>
                                        <p:cTn dur="1000"/>
                                        <p:tgtEl>
                                          <p:spTgt spid="32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id="334" name="Google Shape;334;g3fa44e46628_1_62"/>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35" name="Google Shape;335;g3fa44e46628_1_62"/>
          <p:cNvSpPr txBox="1"/>
          <p:nvPr>
            <p:ph type="title"/>
          </p:nvPr>
        </p:nvSpPr>
        <p:spPr>
          <a:xfrm>
            <a:off x="0" y="0"/>
            <a:ext cx="5787900" cy="1437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4320"/>
              <a:buFont typeface="Trebuchet MS"/>
              <a:buNone/>
            </a:pPr>
            <a:r>
              <a:rPr lang="en-US" sz="3020">
                <a:latin typeface="Times New Roman"/>
                <a:ea typeface="Times New Roman"/>
                <a:cs typeface="Times New Roman"/>
                <a:sym typeface="Times New Roman"/>
              </a:rPr>
              <a:t>RESULTS-</a:t>
            </a:r>
            <a:endParaRPr sz="3020">
              <a:latin typeface="Times New Roman"/>
              <a:ea typeface="Times New Roman"/>
              <a:cs typeface="Times New Roman"/>
              <a:sym typeface="Times New Roman"/>
            </a:endParaRPr>
          </a:p>
          <a:p>
            <a:pPr indent="0" lvl="0" marL="0" rtl="0" algn="l">
              <a:spcBef>
                <a:spcPts val="0"/>
              </a:spcBef>
              <a:spcAft>
                <a:spcPts val="0"/>
              </a:spcAft>
              <a:buClr>
                <a:schemeClr val="dk1"/>
              </a:buClr>
              <a:buSzPts val="4320"/>
              <a:buFont typeface="Trebuchet MS"/>
              <a:buNone/>
            </a:pPr>
            <a:r>
              <a:rPr lang="en-US" sz="3020">
                <a:latin typeface="Times New Roman"/>
                <a:ea typeface="Times New Roman"/>
                <a:cs typeface="Times New Roman"/>
                <a:sym typeface="Times New Roman"/>
              </a:rPr>
              <a:t>EMPIRICAL CUMULATIVE DISTRIBUTION FUNCTION(ECDF)</a:t>
            </a:r>
            <a:endParaRPr sz="3020">
              <a:latin typeface="Times New Roman"/>
              <a:ea typeface="Times New Roman"/>
              <a:cs typeface="Times New Roman"/>
              <a:sym typeface="Times New Roman"/>
            </a:endParaRPr>
          </a:p>
        </p:txBody>
      </p:sp>
      <p:sp>
        <p:nvSpPr>
          <p:cNvPr id="336" name="Google Shape;336;g3fa44e46628_1_62"/>
          <p:cNvSpPr txBox="1"/>
          <p:nvPr>
            <p:ph idx="1" type="body"/>
          </p:nvPr>
        </p:nvSpPr>
        <p:spPr>
          <a:xfrm>
            <a:off x="116350" y="2072450"/>
            <a:ext cx="5260800" cy="4592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latin typeface="Times New Roman"/>
                <a:ea typeface="Times New Roman"/>
                <a:cs typeface="Times New Roman"/>
                <a:sym typeface="Times New Roman"/>
              </a:rPr>
              <a:t>Empirical</a:t>
            </a:r>
            <a:r>
              <a:rPr lang="en-US">
                <a:latin typeface="Times New Roman"/>
                <a:ea typeface="Times New Roman"/>
                <a:cs typeface="Times New Roman"/>
                <a:sym typeface="Times New Roman"/>
              </a:rPr>
              <a:t> Cumulative Distribution Function(ECDF) is used to show the cumulative distribution of numerical data,helping understand what </a:t>
            </a:r>
            <a:r>
              <a:rPr lang="en-US">
                <a:latin typeface="Times New Roman"/>
                <a:ea typeface="Times New Roman"/>
                <a:cs typeface="Times New Roman"/>
                <a:sym typeface="Times New Roman"/>
              </a:rPr>
              <a:t>proportion</a:t>
            </a:r>
            <a:r>
              <a:rPr lang="en-US">
                <a:latin typeface="Times New Roman"/>
                <a:ea typeface="Times New Roman"/>
                <a:cs typeface="Times New Roman"/>
                <a:sym typeface="Times New Roman"/>
              </a:rPr>
              <a:t> of </a:t>
            </a:r>
            <a:r>
              <a:rPr lang="en-US">
                <a:latin typeface="Times New Roman"/>
                <a:ea typeface="Times New Roman"/>
                <a:cs typeface="Times New Roman"/>
                <a:sym typeface="Times New Roman"/>
              </a:rPr>
              <a:t>observations</a:t>
            </a:r>
            <a:r>
              <a:rPr lang="en-US">
                <a:latin typeface="Times New Roman"/>
                <a:ea typeface="Times New Roman"/>
                <a:cs typeface="Times New Roman"/>
                <a:sym typeface="Times New Roman"/>
              </a:rPr>
              <a:t> fall below a given value.</a:t>
            </a:r>
            <a:r>
              <a:rPr lang="en-US">
                <a:latin typeface="Times New Roman"/>
                <a:ea typeface="Times New Roman"/>
                <a:cs typeface="Times New Roman"/>
                <a:sym typeface="Times New Roman"/>
              </a:rPr>
              <a:t>Here the graph shows the following:</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Yield ECDF shows the cumulative proportion of farms at different yield levels.</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The key insight is that the curve rises sharply at lower yields, indicating the most observations have relatively low yield values.</a:t>
            </a:r>
            <a:endParaRPr>
              <a:latin typeface="Times New Roman"/>
              <a:ea typeface="Times New Roman"/>
              <a:cs typeface="Times New Roman"/>
              <a:sym typeface="Times New Roman"/>
            </a:endParaRPr>
          </a:p>
        </p:txBody>
      </p:sp>
      <p:pic>
        <p:nvPicPr>
          <p:cNvPr id="337" name="Google Shape;337;g3fa44e46628_1_62"/>
          <p:cNvPicPr preferRelativeResize="0"/>
          <p:nvPr/>
        </p:nvPicPr>
        <p:blipFill>
          <a:blip r:embed="rId4">
            <a:alphaModFix/>
          </a:blip>
          <a:stretch>
            <a:fillRect/>
          </a:stretch>
        </p:blipFill>
        <p:spPr>
          <a:xfrm>
            <a:off x="5681950" y="-83800"/>
            <a:ext cx="6510049" cy="6941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35"/>
                                        </p:tgtEl>
                                        <p:attrNameLst>
                                          <p:attrName>style.visibility</p:attrName>
                                        </p:attrNameLst>
                                      </p:cBhvr>
                                      <p:to>
                                        <p:strVal val="visible"/>
                                      </p:to>
                                    </p:set>
                                    <p:anim calcmode="lin" valueType="num">
                                      <p:cBhvr additive="base">
                                        <p:cTn dur="500"/>
                                        <p:tgtEl>
                                          <p:spTgt spid="335"/>
                                        </p:tgtEl>
                                        <p:attrNameLst>
                                          <p:attrName>ppt_w</p:attrName>
                                        </p:attrNameLst>
                                      </p:cBhvr>
                                      <p:tavLst>
                                        <p:tav fmla="" tm="0">
                                          <p:val>
                                            <p:strVal val="0"/>
                                          </p:val>
                                        </p:tav>
                                        <p:tav fmla="" tm="100000">
                                          <p:val>
                                            <p:strVal val="#ppt_w"/>
                                          </p:val>
                                        </p:tav>
                                      </p:tavLst>
                                    </p:anim>
                                    <p:anim calcmode="lin" valueType="num">
                                      <p:cBhvr additive="base">
                                        <p:cTn dur="500"/>
                                        <p:tgtEl>
                                          <p:spTgt spid="33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xEl>
                                              <p:pRg end="0" st="0"/>
                                            </p:txEl>
                                          </p:spTgt>
                                        </p:tgtEl>
                                        <p:attrNameLst>
                                          <p:attrName>style.visibility</p:attrName>
                                        </p:attrNameLst>
                                      </p:cBhvr>
                                      <p:to>
                                        <p:strVal val="visible"/>
                                      </p:to>
                                    </p:set>
                                    <p:animEffect filter="fade" transition="in">
                                      <p:cBhvr>
                                        <p:cTn dur="1000"/>
                                        <p:tgtEl>
                                          <p:spTgt spid="3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xEl>
                                              <p:pRg end="1" st="1"/>
                                            </p:txEl>
                                          </p:spTgt>
                                        </p:tgtEl>
                                        <p:attrNameLst>
                                          <p:attrName>style.visibility</p:attrName>
                                        </p:attrNameLst>
                                      </p:cBhvr>
                                      <p:to>
                                        <p:strVal val="visible"/>
                                      </p:to>
                                    </p:set>
                                    <p:animEffect filter="fade" transition="in">
                                      <p:cBhvr>
                                        <p:cTn dur="1000"/>
                                        <p:tgtEl>
                                          <p:spTgt spid="3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xEl>
                                              <p:pRg end="2" st="2"/>
                                            </p:txEl>
                                          </p:spTgt>
                                        </p:tgtEl>
                                        <p:attrNameLst>
                                          <p:attrName>style.visibility</p:attrName>
                                        </p:attrNameLst>
                                      </p:cBhvr>
                                      <p:to>
                                        <p:strVal val="visible"/>
                                      </p:to>
                                    </p:set>
                                    <p:animEffect filter="fade" transition="in">
                                      <p:cBhvr>
                                        <p:cTn dur="1000"/>
                                        <p:tgtEl>
                                          <p:spTgt spid="33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id="342" name="Google Shape;342;g3fa44e46628_1_50"/>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43" name="Google Shape;343;g3fa44e46628_1_50"/>
          <p:cNvSpPr txBox="1"/>
          <p:nvPr>
            <p:ph type="title"/>
          </p:nvPr>
        </p:nvSpPr>
        <p:spPr>
          <a:xfrm>
            <a:off x="0" y="0"/>
            <a:ext cx="4406100" cy="2258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sz="4300">
                <a:latin typeface="Times New Roman"/>
                <a:ea typeface="Times New Roman"/>
                <a:cs typeface="Times New Roman"/>
                <a:sym typeface="Times New Roman"/>
              </a:rPr>
              <a:t>RESULTS-</a:t>
            </a:r>
            <a:endParaRPr sz="4300">
              <a:latin typeface="Times New Roman"/>
              <a:ea typeface="Times New Roman"/>
              <a:cs typeface="Times New Roman"/>
              <a:sym typeface="Times New Roman"/>
            </a:endParaRPr>
          </a:p>
          <a:p>
            <a:pPr indent="0" lvl="0" marL="0" rtl="0" algn="l">
              <a:spcBef>
                <a:spcPts val="0"/>
              </a:spcBef>
              <a:spcAft>
                <a:spcPts val="0"/>
              </a:spcAft>
              <a:buClr>
                <a:schemeClr val="dk1"/>
              </a:buClr>
              <a:buSzPts val="4800"/>
              <a:buFont typeface="Trebuchet MS"/>
              <a:buNone/>
            </a:pPr>
            <a:r>
              <a:rPr lang="en-US" sz="4300">
                <a:latin typeface="Times New Roman"/>
                <a:ea typeface="Times New Roman"/>
                <a:cs typeface="Times New Roman"/>
                <a:sym typeface="Times New Roman"/>
              </a:rPr>
              <a:t>RADAR CHART </a:t>
            </a:r>
            <a:endParaRPr sz="4300">
              <a:latin typeface="Times New Roman"/>
              <a:ea typeface="Times New Roman"/>
              <a:cs typeface="Times New Roman"/>
              <a:sym typeface="Times New Roman"/>
            </a:endParaRPr>
          </a:p>
        </p:txBody>
      </p:sp>
      <p:sp>
        <p:nvSpPr>
          <p:cNvPr id="344" name="Google Shape;344;g3fa44e46628_1_50"/>
          <p:cNvSpPr txBox="1"/>
          <p:nvPr/>
        </p:nvSpPr>
        <p:spPr>
          <a:xfrm>
            <a:off x="4345694"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45" name="Google Shape;345;g3fa44e46628_1_50"/>
          <p:cNvSpPr txBox="1"/>
          <p:nvPr>
            <p:ph idx="1" type="body"/>
          </p:nvPr>
        </p:nvSpPr>
        <p:spPr>
          <a:xfrm>
            <a:off x="93350" y="1537600"/>
            <a:ext cx="4994100" cy="501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latin typeface="Times New Roman"/>
                <a:ea typeface="Times New Roman"/>
                <a:cs typeface="Times New Roman"/>
                <a:sym typeface="Times New Roman"/>
              </a:rPr>
              <a:t>Radar Chart is used to compare multiple performance measures across different categories in a single visual.The graph here showcases the following:</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The crop performance which compares different crops on the basis of </a:t>
            </a:r>
            <a:r>
              <a:rPr lang="en-US">
                <a:latin typeface="Times New Roman"/>
                <a:ea typeface="Times New Roman"/>
                <a:cs typeface="Times New Roman"/>
                <a:sym typeface="Times New Roman"/>
              </a:rPr>
              <a:t>yield,profitability,water efficiency, and fertilizer ROI.</a:t>
            </a:r>
            <a:endParaRPr>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US">
                <a:latin typeface="Times New Roman"/>
                <a:ea typeface="Times New Roman"/>
                <a:cs typeface="Times New Roman"/>
                <a:sym typeface="Times New Roman"/>
              </a:rPr>
              <a:t>The key insight is that Sugarcane shows the strongest overall performance across the selected measures.</a:t>
            </a:r>
            <a:endParaRPr>
              <a:latin typeface="Times New Roman"/>
              <a:ea typeface="Times New Roman"/>
              <a:cs typeface="Times New Roman"/>
              <a:sym typeface="Times New Roman"/>
            </a:endParaRPr>
          </a:p>
        </p:txBody>
      </p:sp>
      <p:pic>
        <p:nvPicPr>
          <p:cNvPr id="346" name="Google Shape;346;g3fa44e46628_1_50"/>
          <p:cNvPicPr preferRelativeResize="0"/>
          <p:nvPr/>
        </p:nvPicPr>
        <p:blipFill>
          <a:blip r:embed="rId4">
            <a:alphaModFix/>
          </a:blip>
          <a:stretch>
            <a:fillRect/>
          </a:stretch>
        </p:blipFill>
        <p:spPr>
          <a:xfrm>
            <a:off x="5227800" y="0"/>
            <a:ext cx="6964199" cy="685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43"/>
                                        </p:tgtEl>
                                        <p:attrNameLst>
                                          <p:attrName>style.visibility</p:attrName>
                                        </p:attrNameLst>
                                      </p:cBhvr>
                                      <p:to>
                                        <p:strVal val="visible"/>
                                      </p:to>
                                    </p:set>
                                    <p:anim calcmode="lin" valueType="num">
                                      <p:cBhvr additive="base">
                                        <p:cTn dur="500"/>
                                        <p:tgtEl>
                                          <p:spTgt spid="343"/>
                                        </p:tgtEl>
                                        <p:attrNameLst>
                                          <p:attrName>ppt_w</p:attrName>
                                        </p:attrNameLst>
                                      </p:cBhvr>
                                      <p:tavLst>
                                        <p:tav fmla="" tm="0">
                                          <p:val>
                                            <p:strVal val="0"/>
                                          </p:val>
                                        </p:tav>
                                        <p:tav fmla="" tm="100000">
                                          <p:val>
                                            <p:strVal val="#ppt_w"/>
                                          </p:val>
                                        </p:tav>
                                      </p:tavLst>
                                    </p:anim>
                                    <p:anim calcmode="lin" valueType="num">
                                      <p:cBhvr additive="base">
                                        <p:cTn dur="500"/>
                                        <p:tgtEl>
                                          <p:spTgt spid="34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xEl>
                                              <p:pRg end="0" st="0"/>
                                            </p:txEl>
                                          </p:spTgt>
                                        </p:tgtEl>
                                        <p:attrNameLst>
                                          <p:attrName>style.visibility</p:attrName>
                                        </p:attrNameLst>
                                      </p:cBhvr>
                                      <p:to>
                                        <p:strVal val="visible"/>
                                      </p:to>
                                    </p:set>
                                    <p:animEffect filter="fade" transition="in">
                                      <p:cBhvr>
                                        <p:cTn dur="1000"/>
                                        <p:tgtEl>
                                          <p:spTgt spid="3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xEl>
                                              <p:pRg end="1" st="1"/>
                                            </p:txEl>
                                          </p:spTgt>
                                        </p:tgtEl>
                                        <p:attrNameLst>
                                          <p:attrName>style.visibility</p:attrName>
                                        </p:attrNameLst>
                                      </p:cBhvr>
                                      <p:to>
                                        <p:strVal val="visible"/>
                                      </p:to>
                                    </p:set>
                                    <p:animEffect filter="fade" transition="in">
                                      <p:cBhvr>
                                        <p:cTn dur="1000"/>
                                        <p:tgtEl>
                                          <p:spTgt spid="3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xEl>
                                              <p:pRg end="2" st="2"/>
                                            </p:txEl>
                                          </p:spTgt>
                                        </p:tgtEl>
                                        <p:attrNameLst>
                                          <p:attrName>style.visibility</p:attrName>
                                        </p:attrNameLst>
                                      </p:cBhvr>
                                      <p:to>
                                        <p:strVal val="visible"/>
                                      </p:to>
                                    </p:set>
                                    <p:animEffect filter="fade" transition="in">
                                      <p:cBhvr>
                                        <p:cTn dur="1000"/>
                                        <p:tgtEl>
                                          <p:spTgt spid="345">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id="351" name="Google Shape;351;p1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52" name="Google Shape;352;p11"/>
          <p:cNvSpPr txBox="1"/>
          <p:nvPr>
            <p:ph type="title"/>
          </p:nvPr>
        </p:nvSpPr>
        <p:spPr>
          <a:xfrm>
            <a:off x="446332" y="116514"/>
            <a:ext cx="47358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300">
                <a:latin typeface="Times New Roman"/>
                <a:ea typeface="Times New Roman"/>
                <a:cs typeface="Times New Roman"/>
                <a:sym typeface="Times New Roman"/>
              </a:rPr>
              <a:t>FUTURE SCOPE</a:t>
            </a:r>
            <a:endParaRPr sz="4300">
              <a:latin typeface="Times New Roman"/>
              <a:ea typeface="Times New Roman"/>
              <a:cs typeface="Times New Roman"/>
              <a:sym typeface="Times New Roman"/>
            </a:endParaRPr>
          </a:p>
        </p:txBody>
      </p:sp>
      <p:sp>
        <p:nvSpPr>
          <p:cNvPr id="353" name="Google Shape;353;p11"/>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54" name="Google Shape;354;p11"/>
          <p:cNvSpPr txBox="1"/>
          <p:nvPr/>
        </p:nvSpPr>
        <p:spPr>
          <a:xfrm>
            <a:off x="446325" y="947525"/>
            <a:ext cx="10545600" cy="56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3F3F3F"/>
                </a:solidFill>
                <a:latin typeface="Times New Roman"/>
                <a:ea typeface="Times New Roman"/>
                <a:cs typeface="Times New Roman"/>
                <a:sym typeface="Times New Roman"/>
              </a:rPr>
              <a:t>The </a:t>
            </a:r>
            <a:r>
              <a:rPr b="1" lang="en-US" sz="2000">
                <a:solidFill>
                  <a:srgbClr val="3F3F3F"/>
                </a:solidFill>
                <a:latin typeface="Times New Roman"/>
                <a:ea typeface="Times New Roman"/>
                <a:cs typeface="Times New Roman"/>
                <a:sym typeface="Times New Roman"/>
              </a:rPr>
              <a:t>Seasonal Agriculture Performance Analysis</a:t>
            </a:r>
            <a:r>
              <a:rPr lang="en-US" sz="2000">
                <a:solidFill>
                  <a:srgbClr val="3F3F3F"/>
                </a:solidFill>
                <a:latin typeface="Times New Roman"/>
                <a:ea typeface="Times New Roman"/>
                <a:cs typeface="Times New Roman"/>
                <a:sym typeface="Times New Roman"/>
              </a:rPr>
              <a:t> can be extended into a more advanced, real time agricultural decision-support system.The following are the future scope of this project :-</a:t>
            </a:r>
            <a:endParaRPr sz="2000">
              <a:solidFill>
                <a:srgbClr val="3F3F3F"/>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rgbClr val="3F3F3F"/>
              </a:solidFill>
              <a:latin typeface="Times New Roman"/>
              <a:ea typeface="Times New Roman"/>
              <a:cs typeface="Times New Roman"/>
              <a:sym typeface="Times New Roman"/>
            </a:endParaRPr>
          </a:p>
          <a:p>
            <a:pPr indent="-355600" lvl="0" marL="457200" rtl="0" algn="l">
              <a:spcBef>
                <a:spcPts val="0"/>
              </a:spcBef>
              <a:spcAft>
                <a:spcPts val="0"/>
              </a:spcAft>
              <a:buClr>
                <a:schemeClr val="accent4"/>
              </a:buClr>
              <a:buSzPts val="2000"/>
              <a:buFont typeface="Times New Roman"/>
              <a:buChar char="●"/>
            </a:pPr>
            <a:r>
              <a:rPr b="1" lang="en-US" sz="2000">
                <a:solidFill>
                  <a:srgbClr val="3F3F3F"/>
                </a:solidFill>
                <a:latin typeface="Times New Roman"/>
                <a:ea typeface="Times New Roman"/>
                <a:cs typeface="Times New Roman"/>
                <a:sym typeface="Times New Roman"/>
              </a:rPr>
              <a:t>Predictive Modeling &amp; Machine learning: </a:t>
            </a:r>
            <a:r>
              <a:rPr lang="en-US" sz="2000">
                <a:solidFill>
                  <a:srgbClr val="3F3F3F"/>
                </a:solidFill>
                <a:latin typeface="Times New Roman"/>
                <a:ea typeface="Times New Roman"/>
                <a:cs typeface="Times New Roman"/>
                <a:sym typeface="Times New Roman"/>
              </a:rPr>
              <a:t>By implementing regression models (eg.,Random Forest, XGBoost) we can forecast crop </a:t>
            </a:r>
            <a:r>
              <a:rPr lang="en-US" sz="2000">
                <a:solidFill>
                  <a:srgbClr val="3F3F3F"/>
                </a:solidFill>
                <a:latin typeface="Times New Roman"/>
                <a:ea typeface="Times New Roman"/>
                <a:cs typeface="Times New Roman"/>
                <a:sym typeface="Times New Roman"/>
              </a:rPr>
              <a:t>yield and profit on the basis of seasonal weather patterns, soil conditions, and resource inputs.</a:t>
            </a:r>
            <a:endParaRPr sz="2000">
              <a:solidFill>
                <a:srgbClr val="3F3F3F"/>
              </a:solidFill>
              <a:latin typeface="Times New Roman"/>
              <a:ea typeface="Times New Roman"/>
              <a:cs typeface="Times New Roman"/>
              <a:sym typeface="Times New Roman"/>
            </a:endParaRPr>
          </a:p>
          <a:p>
            <a:pPr indent="-355600" lvl="0" marL="457200" rtl="0" algn="l">
              <a:spcBef>
                <a:spcPts val="0"/>
              </a:spcBef>
              <a:spcAft>
                <a:spcPts val="0"/>
              </a:spcAft>
              <a:buClr>
                <a:schemeClr val="accent4"/>
              </a:buClr>
              <a:buSzPts val="2000"/>
              <a:buFont typeface="Times New Roman"/>
              <a:buChar char="●"/>
            </a:pPr>
            <a:r>
              <a:rPr b="1" lang="en-US" sz="2000">
                <a:solidFill>
                  <a:srgbClr val="3F3F3F"/>
                </a:solidFill>
                <a:latin typeface="Times New Roman"/>
                <a:ea typeface="Times New Roman"/>
                <a:cs typeface="Times New Roman"/>
                <a:sym typeface="Times New Roman"/>
              </a:rPr>
              <a:t>Prescriptive Analytics &amp; Crop Recommendation System</a:t>
            </a:r>
            <a:r>
              <a:rPr lang="en-US" sz="2000">
                <a:solidFill>
                  <a:srgbClr val="3F3F3F"/>
                </a:solidFill>
                <a:latin typeface="Times New Roman"/>
                <a:ea typeface="Times New Roman"/>
                <a:cs typeface="Times New Roman"/>
                <a:sym typeface="Times New Roman"/>
              </a:rPr>
              <a:t>: Developing a recommendation system which would suggest the most suitable crop based on soil type,pH,rainfall,temperature,water availability, and historical yield. </a:t>
            </a:r>
            <a:endParaRPr sz="2000">
              <a:solidFill>
                <a:srgbClr val="3F3F3F"/>
              </a:solidFill>
              <a:latin typeface="Times New Roman"/>
              <a:ea typeface="Times New Roman"/>
              <a:cs typeface="Times New Roman"/>
              <a:sym typeface="Times New Roman"/>
            </a:endParaRPr>
          </a:p>
          <a:p>
            <a:pPr indent="-355600" lvl="0" marL="457200" rtl="0" algn="l">
              <a:spcBef>
                <a:spcPts val="0"/>
              </a:spcBef>
              <a:spcAft>
                <a:spcPts val="0"/>
              </a:spcAft>
              <a:buClr>
                <a:schemeClr val="accent4"/>
              </a:buClr>
              <a:buSzPts val="2000"/>
              <a:buFont typeface="Times New Roman"/>
              <a:buChar char="●"/>
            </a:pPr>
            <a:r>
              <a:rPr b="1" lang="en-US" sz="2000">
                <a:solidFill>
                  <a:srgbClr val="3F3F3F"/>
                </a:solidFill>
                <a:latin typeface="Times New Roman"/>
                <a:ea typeface="Times New Roman"/>
                <a:cs typeface="Times New Roman"/>
                <a:sym typeface="Times New Roman"/>
              </a:rPr>
              <a:t>Smart Agriculture : </a:t>
            </a:r>
            <a:r>
              <a:rPr lang="en-US" sz="2000">
                <a:solidFill>
                  <a:srgbClr val="3F3F3F"/>
                </a:solidFill>
                <a:latin typeface="Times New Roman"/>
                <a:ea typeface="Times New Roman"/>
                <a:cs typeface="Times New Roman"/>
                <a:sym typeface="Times New Roman"/>
              </a:rPr>
              <a:t>We can integrate AI, and IoT-based solutions ,live weather APIs for real time monitoring and data driven farming decisions to use rainfall, temperature, humidity, and weather forecasts for better seasonal analysis and prediction.</a:t>
            </a:r>
            <a:endParaRPr sz="2000">
              <a:solidFill>
                <a:srgbClr val="3F3F3F"/>
              </a:solidFill>
              <a:latin typeface="Times New Roman"/>
              <a:ea typeface="Times New Roman"/>
              <a:cs typeface="Times New Roman"/>
              <a:sym typeface="Times New Roman"/>
            </a:endParaRPr>
          </a:p>
          <a:p>
            <a:pPr indent="-355600" lvl="0" marL="457200" rtl="0" algn="l">
              <a:spcBef>
                <a:spcPts val="0"/>
              </a:spcBef>
              <a:spcAft>
                <a:spcPts val="0"/>
              </a:spcAft>
              <a:buClr>
                <a:schemeClr val="accent4"/>
              </a:buClr>
              <a:buSzPts val="2000"/>
              <a:buFont typeface="Times New Roman"/>
              <a:buChar char="●"/>
            </a:pPr>
            <a:r>
              <a:rPr b="1" lang="en-US" sz="2000">
                <a:solidFill>
                  <a:srgbClr val="3F3F3F"/>
                </a:solidFill>
                <a:latin typeface="Times New Roman"/>
                <a:ea typeface="Times New Roman"/>
                <a:cs typeface="Times New Roman"/>
                <a:sym typeface="Times New Roman"/>
              </a:rPr>
              <a:t>Accurate Farming &amp; Input Optimization: </a:t>
            </a:r>
            <a:r>
              <a:rPr lang="en-US" sz="2000">
                <a:solidFill>
                  <a:srgbClr val="3F3F3F"/>
                </a:solidFill>
                <a:latin typeface="Times New Roman"/>
                <a:ea typeface="Times New Roman"/>
                <a:cs typeface="Times New Roman"/>
                <a:sym typeface="Times New Roman"/>
              </a:rPr>
              <a:t>By building optimization algorithms to calculate precise fertilizer,pesticide, and water requirements which would minimizing agricultural runoff and maximizing return on investment while maintaining high yields.</a:t>
            </a:r>
            <a:endParaRPr sz="2000">
              <a:solidFill>
                <a:srgbClr val="3F3F3F"/>
              </a:solidFill>
              <a:latin typeface="Times New Roman"/>
              <a:ea typeface="Times New Roman"/>
              <a:cs typeface="Times New Roman"/>
              <a:sym typeface="Times New Roman"/>
            </a:endParaRPr>
          </a:p>
          <a:p>
            <a:pPr indent="-355600" lvl="0" marL="457200" rtl="0" algn="l">
              <a:spcBef>
                <a:spcPts val="0"/>
              </a:spcBef>
              <a:spcAft>
                <a:spcPts val="0"/>
              </a:spcAft>
              <a:buClr>
                <a:schemeClr val="accent4"/>
              </a:buClr>
              <a:buSzPts val="2000"/>
              <a:buFont typeface="Times New Roman"/>
              <a:buChar char="●"/>
            </a:pPr>
            <a:r>
              <a:rPr b="1" lang="en-US" sz="2000">
                <a:solidFill>
                  <a:srgbClr val="3F3F3F"/>
                </a:solidFill>
                <a:latin typeface="Times New Roman"/>
                <a:ea typeface="Times New Roman"/>
                <a:cs typeface="Times New Roman"/>
                <a:sym typeface="Times New Roman"/>
              </a:rPr>
              <a:t>Dynamic Market Pricing Integration: </a:t>
            </a:r>
            <a:r>
              <a:rPr lang="en-US" sz="2000">
                <a:solidFill>
                  <a:srgbClr val="3F3F3F"/>
                </a:solidFill>
                <a:latin typeface="Times New Roman"/>
                <a:ea typeface="Times New Roman"/>
                <a:cs typeface="Times New Roman"/>
                <a:sym typeface="Times New Roman"/>
              </a:rPr>
              <a:t>We will integrate real-time market price data, subsidies, transportation costs, supply-demand trends and all the other costs to help farmers time their harvest sales for maximum revenue generation and reduce unnecessary losses. </a:t>
            </a:r>
            <a:endParaRPr sz="2000">
              <a:solidFill>
                <a:srgbClr val="3F3F3F"/>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52"/>
                                        </p:tgtEl>
                                        <p:attrNameLst>
                                          <p:attrName>style.visibility</p:attrName>
                                        </p:attrNameLst>
                                      </p:cBhvr>
                                      <p:to>
                                        <p:strVal val="visible"/>
                                      </p:to>
                                    </p:set>
                                    <p:anim calcmode="lin" valueType="num">
                                      <p:cBhvr additive="base">
                                        <p:cTn dur="500"/>
                                        <p:tgtEl>
                                          <p:spTgt spid="352"/>
                                        </p:tgtEl>
                                        <p:attrNameLst>
                                          <p:attrName>ppt_w</p:attrName>
                                        </p:attrNameLst>
                                      </p:cBhvr>
                                      <p:tavLst>
                                        <p:tav fmla="" tm="0">
                                          <p:val>
                                            <p:strVal val="0"/>
                                          </p:val>
                                        </p:tav>
                                        <p:tav fmla="" tm="100000">
                                          <p:val>
                                            <p:strVal val="#ppt_w"/>
                                          </p:val>
                                        </p:tav>
                                      </p:tavLst>
                                    </p:anim>
                                    <p:anim calcmode="lin" valueType="num">
                                      <p:cBhvr additive="base">
                                        <p:cTn dur="500"/>
                                        <p:tgtEl>
                                          <p:spTgt spid="35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p12"/>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60" name="Google Shape;360;p12"/>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300">
                <a:latin typeface="Times New Roman"/>
                <a:ea typeface="Times New Roman"/>
                <a:cs typeface="Times New Roman"/>
                <a:sym typeface="Times New Roman"/>
              </a:rPr>
              <a:t>GitHub Link</a:t>
            </a:r>
            <a:endParaRPr sz="5100">
              <a:latin typeface="Times New Roman"/>
              <a:ea typeface="Times New Roman"/>
              <a:cs typeface="Times New Roman"/>
              <a:sym typeface="Times New Roman"/>
            </a:endParaRPr>
          </a:p>
        </p:txBody>
      </p:sp>
      <p:sp>
        <p:nvSpPr>
          <p:cNvPr id="361" name="Google Shape;361;p12"/>
          <p:cNvSpPr txBox="1"/>
          <p:nvPr/>
        </p:nvSpPr>
        <p:spPr>
          <a:xfrm>
            <a:off x="744875" y="1298738"/>
            <a:ext cx="7855800" cy="666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1"/>
              </a:buClr>
              <a:buSzPts val="1600"/>
              <a:buFont typeface="Noto Sans Symbols"/>
              <a:buNone/>
            </a:pPr>
            <a:r>
              <a:rPr lang="en-US" sz="2000" u="sng">
                <a:solidFill>
                  <a:srgbClr val="3C78D8"/>
                </a:solidFill>
                <a:latin typeface="Times New Roman"/>
                <a:ea typeface="Times New Roman"/>
                <a:cs typeface="Times New Roman"/>
                <a:sym typeface="Times New Roman"/>
                <a:hlinkClick r:id="rId4">
                  <a:extLst>
                    <a:ext uri="{A12FA001-AC4F-418D-AE19-62706E023703}">
                      <ahyp:hlinkClr val="tx"/>
                    </a:ext>
                  </a:extLst>
                </a:hlinkClick>
              </a:rPr>
              <a:t>https://github.com/pragyasrivastavaaa/Major-Project-Seasonal-Agriculture-Performance-Analysis_VOIS-INTERNSHIP.git</a:t>
            </a:r>
            <a:r>
              <a:rPr lang="en-US" sz="2000">
                <a:solidFill>
                  <a:srgbClr val="3C78D8"/>
                </a:solidFill>
                <a:latin typeface="Times New Roman"/>
                <a:ea typeface="Times New Roman"/>
                <a:cs typeface="Times New Roman"/>
                <a:sym typeface="Times New Roman"/>
              </a:rPr>
              <a:t> </a:t>
            </a:r>
            <a:endParaRPr sz="2000">
              <a:solidFill>
                <a:srgbClr val="3C78D8"/>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60"/>
                                        </p:tgtEl>
                                        <p:attrNameLst>
                                          <p:attrName>style.visibility</p:attrName>
                                        </p:attrNameLst>
                                      </p:cBhvr>
                                      <p:to>
                                        <p:strVal val="visible"/>
                                      </p:to>
                                    </p:set>
                                    <p:anim calcmode="lin" valueType="num">
                                      <p:cBhvr additive="base">
                                        <p:cTn dur="500"/>
                                        <p:tgtEl>
                                          <p:spTgt spid="360"/>
                                        </p:tgtEl>
                                        <p:attrNameLst>
                                          <p:attrName>ppt_w</p:attrName>
                                        </p:attrNameLst>
                                      </p:cBhvr>
                                      <p:tavLst>
                                        <p:tav fmla="" tm="0">
                                          <p:val>
                                            <p:strVal val="0"/>
                                          </p:val>
                                        </p:tav>
                                        <p:tav fmla="" tm="100000">
                                          <p:val>
                                            <p:strVal val="#ppt_w"/>
                                          </p:val>
                                        </p:tav>
                                      </p:tavLst>
                                    </p:anim>
                                    <p:anim calcmode="lin" valueType="num">
                                      <p:cBhvr additive="base">
                                        <p:cTn dur="500"/>
                                        <p:tgtEl>
                                          <p:spTgt spid="36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1000"/>
                                        <p:tgtEl>
                                          <p:spTgt spid="3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pic>
        <p:nvPicPr>
          <p:cNvPr id="366" name="Google Shape;366;p1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67" name="Google Shape;367;p13"/>
          <p:cNvSpPr txBox="1"/>
          <p:nvPr>
            <p:ph type="title"/>
          </p:nvPr>
        </p:nvSpPr>
        <p:spPr>
          <a:xfrm>
            <a:off x="675948" y="0"/>
            <a:ext cx="10383000" cy="884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Trebuchet MS"/>
              <a:buNone/>
            </a:pPr>
            <a:r>
              <a:rPr lang="en-US" sz="4300">
                <a:latin typeface="Times New Roman"/>
                <a:ea typeface="Times New Roman"/>
                <a:cs typeface="Times New Roman"/>
                <a:sym typeface="Times New Roman"/>
              </a:rPr>
              <a:t>VOIS Course completion certificate - </a:t>
            </a:r>
            <a:br>
              <a:rPr lang="en-US" sz="4300">
                <a:latin typeface="Times New Roman"/>
                <a:ea typeface="Times New Roman"/>
                <a:cs typeface="Times New Roman"/>
                <a:sym typeface="Times New Roman"/>
              </a:rPr>
            </a:br>
            <a:r>
              <a:rPr lang="en-US" sz="4300">
                <a:latin typeface="Times New Roman"/>
                <a:ea typeface="Times New Roman"/>
                <a:cs typeface="Times New Roman"/>
                <a:sym typeface="Times New Roman"/>
              </a:rPr>
              <a:t>Course name- Data Visualization </a:t>
            </a:r>
            <a:endParaRPr sz="4300">
              <a:latin typeface="Times New Roman"/>
              <a:ea typeface="Times New Roman"/>
              <a:cs typeface="Times New Roman"/>
              <a:sym typeface="Times New Roman"/>
            </a:endParaRPr>
          </a:p>
        </p:txBody>
      </p:sp>
      <p:sp>
        <p:nvSpPr>
          <p:cNvPr id="368" name="Google Shape;368;p13"/>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369" name="Google Shape;369;p13"/>
          <p:cNvPicPr preferRelativeResize="0"/>
          <p:nvPr/>
        </p:nvPicPr>
        <p:blipFill>
          <a:blip r:embed="rId4">
            <a:alphaModFix/>
          </a:blip>
          <a:stretch>
            <a:fillRect/>
          </a:stretch>
        </p:blipFill>
        <p:spPr>
          <a:xfrm>
            <a:off x="320975" y="1543675"/>
            <a:ext cx="11509700" cy="5023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67"/>
                                        </p:tgtEl>
                                        <p:attrNameLst>
                                          <p:attrName>style.visibility</p:attrName>
                                        </p:attrNameLst>
                                      </p:cBhvr>
                                      <p:to>
                                        <p:strVal val="visible"/>
                                      </p:to>
                                    </p:set>
                                    <p:anim calcmode="lin" valueType="num">
                                      <p:cBhvr additive="base">
                                        <p:cTn dur="500"/>
                                        <p:tgtEl>
                                          <p:spTgt spid="367"/>
                                        </p:tgtEl>
                                        <p:attrNameLst>
                                          <p:attrName>ppt_w</p:attrName>
                                        </p:attrNameLst>
                                      </p:cBhvr>
                                      <p:tavLst>
                                        <p:tav fmla="" tm="0">
                                          <p:val>
                                            <p:strVal val="0"/>
                                          </p:val>
                                        </p:tav>
                                        <p:tav fmla="" tm="100000">
                                          <p:val>
                                            <p:strVal val="#ppt_w"/>
                                          </p:val>
                                        </p:tav>
                                      </p:tavLst>
                                    </p:anim>
                                    <p:anim calcmode="lin" valueType="num">
                                      <p:cBhvr additive="base">
                                        <p:cTn dur="500"/>
                                        <p:tgtEl>
                                          <p:spTgt spid="36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14"/>
          <p:cNvSpPr txBox="1"/>
          <p:nvPr>
            <p:ph type="title"/>
          </p:nvPr>
        </p:nvSpPr>
        <p:spPr>
          <a:xfrm>
            <a:off x="265275" y="3078900"/>
            <a:ext cx="11340000" cy="700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rebuchet MS"/>
              <a:buNone/>
            </a:pPr>
            <a:r>
              <a:rPr b="1" lang="en-US" sz="4800">
                <a:solidFill>
                  <a:schemeClr val="dk1"/>
                </a:solidFill>
                <a:latin typeface="Times New Roman"/>
                <a:ea typeface="Times New Roman"/>
                <a:cs typeface="Times New Roman"/>
                <a:sym typeface="Times New Roman"/>
              </a:rPr>
              <a:t>THANK YOU</a:t>
            </a:r>
            <a:endParaRPr b="1">
              <a:latin typeface="Times New Roman"/>
              <a:ea typeface="Times New Roman"/>
              <a:cs typeface="Times New Roman"/>
              <a:sym typeface="Times New Roman"/>
            </a:endParaRPr>
          </a:p>
        </p:txBody>
      </p:sp>
      <p:sp>
        <p:nvSpPr>
          <p:cNvPr id="375" name="Google Shape;375;p14"/>
          <p:cNvSpPr txBox="1"/>
          <p:nvPr/>
        </p:nvSpPr>
        <p:spPr>
          <a:xfrm>
            <a:off x="5353508" y="3962573"/>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76" name="Google Shape;376;p14"/>
          <p:cNvSpPr txBox="1"/>
          <p:nvPr/>
        </p:nvSpPr>
        <p:spPr>
          <a:xfrm>
            <a:off x="7789163" y="3962572"/>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77" name="Google Shape;377;p14"/>
          <p:cNvSpPr txBox="1"/>
          <p:nvPr/>
        </p:nvSpPr>
        <p:spPr>
          <a:xfrm>
            <a:off x="8591363"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rPr lang="en-US" sz="1600">
                <a:solidFill>
                  <a:schemeClr val="dk1"/>
                </a:solidFill>
                <a:latin typeface="Trebuchet MS"/>
                <a:ea typeface="Trebuchet MS"/>
                <a:cs typeface="Trebuchet MS"/>
                <a:sym typeface="Trebuchet MS"/>
              </a:rPr>
              <a:t>.</a:t>
            </a:r>
            <a:endParaRPr/>
          </a:p>
        </p:txBody>
      </p:sp>
      <p:pic>
        <p:nvPicPr>
          <p:cNvPr id="378" name="Google Shape;378;p14"/>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74"/>
                                        </p:tgtEl>
                                        <p:attrNameLst>
                                          <p:attrName>style.visibility</p:attrName>
                                        </p:attrNameLst>
                                      </p:cBhvr>
                                      <p:to>
                                        <p:strVal val="visible"/>
                                      </p:to>
                                    </p:set>
                                    <p:anim calcmode="lin" valueType="num">
                                      <p:cBhvr additive="base">
                                        <p:cTn dur="500"/>
                                        <p:tgtEl>
                                          <p:spTgt spid="374"/>
                                        </p:tgtEl>
                                        <p:attrNameLst>
                                          <p:attrName>ppt_w</p:attrName>
                                        </p:attrNameLst>
                                      </p:cBhvr>
                                      <p:tavLst>
                                        <p:tav fmla="" tm="0">
                                          <p:val>
                                            <p:strVal val="0"/>
                                          </p:val>
                                        </p:tav>
                                        <p:tav fmla="" tm="100000">
                                          <p:val>
                                            <p:strVal val="#ppt_w"/>
                                          </p:val>
                                        </p:tav>
                                      </p:tavLst>
                                    </p:anim>
                                    <p:anim calcmode="lin" valueType="num">
                                      <p:cBhvr additive="base">
                                        <p:cTn dur="500"/>
                                        <p:tgtEl>
                                          <p:spTgt spid="37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500"/>
                                        <p:tgtEl>
                                          <p:spTgt spid="3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500"/>
                                        <p:tgtEl>
                                          <p:spTgt spid="3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2021-07-11T13:13:15Z</dcterms:created>
  <dc:creator>Venkataswamy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